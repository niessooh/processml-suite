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6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01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9867"/>
    <a:srgbClr val="64BEE6"/>
    <a:srgbClr val="061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50" d="100"/>
          <a:sy n="50" d="100"/>
        </p:scale>
        <p:origin x="2250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98FDF-B7D6-430B-97B4-3294C3C69F9C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01A87-F29F-4C29-A299-BC0CFAC3E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7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1A87-F29F-4C29-A299-BC0CFAC3EF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1A87-F29F-4C29-A299-BC0CFAC3EF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29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D313-DADA-F5AE-F781-472293CE9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307EF-D913-ECA3-DDEA-300C8C9D2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98838-4FB1-5320-EF76-D63A672E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80EF-A8EF-4E80-B640-75A88E4B9469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CA4EE-C502-68D9-1237-78A7609E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D9A7C-469C-300E-C17E-0DB7FA8A8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000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25276947-FFA0-44F6-8F12-C0D461897C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422E6-E3AB-FC2A-3647-78F3B2F3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67D8B-2EB5-C217-6EB0-41DEFD93D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2B65D-FDA2-E580-E2F2-E44EE906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1ED3-7C56-44B8-BD76-380CF684BFE7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CBDE3-4A1A-DD62-94E3-57B1B5658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EEC16-7C68-0671-4667-EE65CE2D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25276947-FFA0-44F6-8F12-C0D461897C7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24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DCF12-6179-3CD3-59B0-046706FA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11CB8-8D65-DDEB-78E4-0218F7069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41CF0-ECBA-427C-BB40-05FD0138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77AB-6F45-4CBE-9100-4085DF3D17D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FBB14-ED23-0AB0-1FDE-A8A802A16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D5268-9CD1-681E-4365-3DB6F19F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47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35AD-7684-DB2E-6697-3C481B9F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2D23C-F8D7-EDA4-4D33-E26860DAE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D1939-FDA6-CB2A-2044-9DFB7FAAC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CA429-F953-B8DF-6448-810654DF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A52E-2EC4-4E7D-8134-8F164CA0A62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820A8-2862-2093-7D22-D67FE684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FF96D-656C-E178-A2A8-D962B8CA9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D6DF-7C0E-4D09-27EB-5A5D4C517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D1E99-520B-D283-65DC-0F68E63A0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1015D-C7FB-D0DD-7287-57E1CD472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778AF-B423-C335-F632-C6A42F6DD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298EB-2564-7189-70C4-D1D438CEF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58B5CA-6CC0-B658-EBE9-8F89E9260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C1536-D656-424E-8A20-7A7EE04188AA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5C85A-9A46-2AE3-3A59-424D3AB0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8AA52-AA25-F391-0955-8B6D13C4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5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E5F2A-8A58-5FB7-F45E-34FA7C73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25641-8F38-E8DD-C3D5-DFA1381B6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76148-3DDA-4639-894C-C0E5A9B2B597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B9D9D-F48B-8EC3-00AF-D79F4A75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0649F-980A-0098-95E5-5E40D3FA1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6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E5F782-FE05-2EB9-3255-63C88366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76B9-C198-41CA-877E-DE801D7F73F1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206DB6-D61A-2CE7-76C1-B8CEEB46F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1C99A-8514-EBDB-59D3-4868F91FF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23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36840-F209-EF16-915C-80B33987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70AF8-7844-A808-6176-893C39C35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323C4-8221-00C6-E0F0-67FD2C57C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55B64-F732-5549-0C80-2F7BFC99F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D716-8CB9-4020-A70A-1105BAE451E8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9AD6C-6C2A-F614-4FA9-A05ADACC7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6A6B1-CE85-2B52-8E0A-2846E467F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7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08F0-BCEC-C05D-BAEA-C00042AF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9746B-4F16-4734-5259-95F2011AB0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832C4-DCEB-2D8A-3939-8FFB6E4A1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AA31F-FEB9-A3A1-EC5A-7246C595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53FF9-B4FE-427E-A36C-C74440ACA1A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F5F33-621E-995F-18D0-C630D9AA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909B0-256D-887D-2851-5B725686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2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A75F6-2879-AB83-DAB3-EE4B7701C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956CD9-CE77-B99E-E775-847E3845E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441CF-D05D-0A04-8945-FCCC60FB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A3845-AB1A-4D64-AFCB-B3786B083931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D2840-ECBA-1C69-B32C-0E9879E1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8C37C-1077-BB4E-E502-66EACC70C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1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30F3F-4CF4-1B4F-96DF-09A97D521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70BFF-247C-186F-D120-859E9FFA0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ACCC-3417-520C-9623-2011293C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E1209-9046-466F-96E6-1EF3AB62E202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4CAE7-A4E7-DAAC-9A67-86A30F4C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FED2-D160-9834-819C-9E9AB885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7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D44B63-B0E0-BAC1-58A6-F2E7AD5CF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5AB69-A494-A89A-D017-4C184AF9D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12147-B279-7F58-886C-D39CF90FB1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057B5-5D4B-4E2A-BCAE-66A78526ED23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08D85-A65D-A141-8463-99DA43EE4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4F206-5654-D0AD-7D52-AB0FD260A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76947-FFA0-44F6-8F12-C0D461897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75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2C9365-30EC-E6CA-2141-9358F9F86E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a-IR" b="1" dirty="0">
              <a:solidFill>
                <a:schemeClr val="tx2">
                  <a:lumMod val="90000"/>
                  <a:lumOff val="10000"/>
                </a:schemeClr>
              </a:solidFill>
              <a:latin typeface="Vazirmatn"/>
              <a:cs typeface="B Nazanin" panose="00000400000000000000" pitchFamily="2" charset="-78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5C49D3F-4C8E-520A-AF6C-D2C9C4B0078E}"/>
              </a:ext>
            </a:extLst>
          </p:cNvPr>
          <p:cNvSpPr/>
          <p:nvPr/>
        </p:nvSpPr>
        <p:spPr>
          <a:xfrm rot="2107489" flipH="1" flipV="1">
            <a:off x="-1536384" y="-2975235"/>
            <a:ext cx="9535195" cy="27992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7F833FF-6792-BBDB-B745-E2CAE86EDCC5}"/>
              </a:ext>
            </a:extLst>
          </p:cNvPr>
          <p:cNvSpPr/>
          <p:nvPr/>
        </p:nvSpPr>
        <p:spPr>
          <a:xfrm rot="1480091" flipH="1" flipV="1">
            <a:off x="-4177048" y="-2830158"/>
            <a:ext cx="9535195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6DE3AFA-8DBA-A6A1-C4D8-CE21C0ED7B4F}"/>
              </a:ext>
            </a:extLst>
          </p:cNvPr>
          <p:cNvSpPr/>
          <p:nvPr/>
        </p:nvSpPr>
        <p:spPr>
          <a:xfrm rot="810985" flipH="1" flipV="1">
            <a:off x="-6691943" y="-2131247"/>
            <a:ext cx="9535195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442FE44-4A1B-9A89-B320-977867D63125}"/>
              </a:ext>
            </a:extLst>
          </p:cNvPr>
          <p:cNvSpPr/>
          <p:nvPr/>
        </p:nvSpPr>
        <p:spPr>
          <a:xfrm>
            <a:off x="685801" y="2408499"/>
            <a:ext cx="11120438" cy="2199803"/>
          </a:xfrm>
          <a:custGeom>
            <a:avLst/>
            <a:gdLst>
              <a:gd name="csX0" fmla="*/ 0 w 11120438"/>
              <a:gd name="csY0" fmla="*/ 366641 h 2199803"/>
              <a:gd name="csX1" fmla="*/ 366641 w 11120438"/>
              <a:gd name="csY1" fmla="*/ 0 h 2199803"/>
              <a:gd name="csX2" fmla="*/ 10753797 w 11120438"/>
              <a:gd name="csY2" fmla="*/ 0 h 2199803"/>
              <a:gd name="csX3" fmla="*/ 11120438 w 11120438"/>
              <a:gd name="csY3" fmla="*/ 366641 h 2199803"/>
              <a:gd name="csX4" fmla="*/ 11120438 w 11120438"/>
              <a:gd name="csY4" fmla="*/ 1833162 h 2199803"/>
              <a:gd name="csX5" fmla="*/ 10753797 w 11120438"/>
              <a:gd name="csY5" fmla="*/ 2199803 h 2199803"/>
              <a:gd name="csX6" fmla="*/ 366641 w 11120438"/>
              <a:gd name="csY6" fmla="*/ 2199803 h 2199803"/>
              <a:gd name="csX7" fmla="*/ 0 w 11120438"/>
              <a:gd name="csY7" fmla="*/ 1833162 h 2199803"/>
              <a:gd name="csX8" fmla="*/ 0 w 11120438"/>
              <a:gd name="csY8" fmla="*/ 366641 h 21998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120438" h="2199803" fill="none" extrusionOk="0">
                <a:moveTo>
                  <a:pt x="0" y="366641"/>
                </a:moveTo>
                <a:cubicBezTo>
                  <a:pt x="743" y="184264"/>
                  <a:pt x="166409" y="3790"/>
                  <a:pt x="366641" y="0"/>
                </a:cubicBezTo>
                <a:cubicBezTo>
                  <a:pt x="4736699" y="72427"/>
                  <a:pt x="8866788" y="61419"/>
                  <a:pt x="10753797" y="0"/>
                </a:cubicBezTo>
                <a:cubicBezTo>
                  <a:pt x="10955251" y="-7132"/>
                  <a:pt x="11116820" y="163057"/>
                  <a:pt x="11120438" y="366641"/>
                </a:cubicBezTo>
                <a:cubicBezTo>
                  <a:pt x="11142756" y="1011785"/>
                  <a:pt x="11049839" y="1414333"/>
                  <a:pt x="11120438" y="1833162"/>
                </a:cubicBezTo>
                <a:cubicBezTo>
                  <a:pt x="11123586" y="2019674"/>
                  <a:pt x="10947545" y="2190003"/>
                  <a:pt x="10753797" y="2199803"/>
                </a:cubicBezTo>
                <a:cubicBezTo>
                  <a:pt x="5616025" y="2229630"/>
                  <a:pt x="5324524" y="2120497"/>
                  <a:pt x="366641" y="2199803"/>
                </a:cubicBezTo>
                <a:cubicBezTo>
                  <a:pt x="179836" y="2198030"/>
                  <a:pt x="-10641" y="2037756"/>
                  <a:pt x="0" y="1833162"/>
                </a:cubicBezTo>
                <a:cubicBezTo>
                  <a:pt x="-94554" y="1524845"/>
                  <a:pt x="-112826" y="910900"/>
                  <a:pt x="0" y="366641"/>
                </a:cubicBezTo>
                <a:close/>
              </a:path>
              <a:path w="11120438" h="2199803" stroke="0" extrusionOk="0">
                <a:moveTo>
                  <a:pt x="0" y="366641"/>
                </a:moveTo>
                <a:cubicBezTo>
                  <a:pt x="25137" y="171003"/>
                  <a:pt x="167774" y="7549"/>
                  <a:pt x="366641" y="0"/>
                </a:cubicBezTo>
                <a:cubicBezTo>
                  <a:pt x="3898164" y="123000"/>
                  <a:pt x="8504858" y="-96860"/>
                  <a:pt x="10753797" y="0"/>
                </a:cubicBezTo>
                <a:cubicBezTo>
                  <a:pt x="10926818" y="-22460"/>
                  <a:pt x="11127285" y="150348"/>
                  <a:pt x="11120438" y="366641"/>
                </a:cubicBezTo>
                <a:cubicBezTo>
                  <a:pt x="11227022" y="899675"/>
                  <a:pt x="11177164" y="1129212"/>
                  <a:pt x="11120438" y="1833162"/>
                </a:cubicBezTo>
                <a:cubicBezTo>
                  <a:pt x="11099185" y="2043352"/>
                  <a:pt x="10938435" y="2196881"/>
                  <a:pt x="10753797" y="2199803"/>
                </a:cubicBezTo>
                <a:cubicBezTo>
                  <a:pt x="5592370" y="2039096"/>
                  <a:pt x="2721514" y="2239470"/>
                  <a:pt x="366641" y="2199803"/>
                </a:cubicBezTo>
                <a:cubicBezTo>
                  <a:pt x="134953" y="2193906"/>
                  <a:pt x="-29573" y="2022254"/>
                  <a:pt x="0" y="1833162"/>
                </a:cubicBezTo>
                <a:cubicBezTo>
                  <a:pt x="71442" y="1631707"/>
                  <a:pt x="-5203" y="870564"/>
                  <a:pt x="0" y="366641"/>
                </a:cubicBezTo>
                <a:close/>
              </a:path>
            </a:pathLst>
          </a:cu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06400">
              <a:schemeClr val="accent4">
                <a:satMod val="175000"/>
                <a:alpha val="22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3C1B232-BF97-4293-F79A-1D95782E33AB}"/>
              </a:ext>
            </a:extLst>
          </p:cNvPr>
          <p:cNvSpPr/>
          <p:nvPr/>
        </p:nvSpPr>
        <p:spPr>
          <a:xfrm rot="1977989">
            <a:off x="4875231" y="7054719"/>
            <a:ext cx="8824823" cy="27992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317BA63-52B0-6A96-A3F5-29330F999488}"/>
              </a:ext>
            </a:extLst>
          </p:cNvPr>
          <p:cNvSpPr/>
          <p:nvPr/>
        </p:nvSpPr>
        <p:spPr>
          <a:xfrm rot="1226062">
            <a:off x="7545250" y="6446470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CA267EE-09FD-FC00-9CFD-12862C4F0A16}"/>
              </a:ext>
            </a:extLst>
          </p:cNvPr>
          <p:cNvSpPr/>
          <p:nvPr/>
        </p:nvSpPr>
        <p:spPr>
          <a:xfrm rot="540485">
            <a:off x="9807811" y="5458364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B4431B-1611-B418-E537-1EC149114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75" y="96252"/>
            <a:ext cx="1543050" cy="15671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A086D6-28CE-5F29-F88F-F56407C44C7A}"/>
              </a:ext>
            </a:extLst>
          </p:cNvPr>
          <p:cNvSpPr txBox="1"/>
          <p:nvPr/>
        </p:nvSpPr>
        <p:spPr>
          <a:xfrm>
            <a:off x="6994359" y="1721692"/>
            <a:ext cx="481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Vazirmatn"/>
                <a:cs typeface="B Nazanin" panose="00000400000000000000" pitchFamily="2" charset="-78"/>
              </a:rPr>
              <a:t>دانشگاه علم و صنعت ایران — دانشکده مهندسی شیمی، نفت و گاز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500435-C0F1-9327-AC76-68114AF882B3}"/>
              </a:ext>
            </a:extLst>
          </p:cNvPr>
          <p:cNvSpPr txBox="1"/>
          <p:nvPr/>
        </p:nvSpPr>
        <p:spPr>
          <a:xfrm>
            <a:off x="685801" y="1771792"/>
            <a:ext cx="24504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1200" b="0" i="0" u="none" dirty="0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دفاع پایان‌نامه کارشناسی — مهر ۱۴۰۵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3D1FC-2D0D-AF6A-0C36-2FD746E09D86}"/>
              </a:ext>
            </a:extLst>
          </p:cNvPr>
          <p:cNvSpPr txBox="1"/>
          <p:nvPr/>
        </p:nvSpPr>
        <p:spPr>
          <a:xfrm>
            <a:off x="590550" y="2701720"/>
            <a:ext cx="109156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 u="none" dirty="0" err="1">
                <a:solidFill>
                  <a:schemeClr val="bg2">
                    <a:lumMod val="50000"/>
                  </a:schemeClr>
                </a:solidFill>
                <a:latin typeface="Vazirmatn"/>
                <a:cs typeface="B Nazanin" panose="00000400000000000000" pitchFamily="2" charset="-78"/>
              </a:rPr>
              <a:t>پایان‌نامه</a:t>
            </a:r>
            <a:r>
              <a:rPr sz="1600" b="1" i="0" u="none" dirty="0">
                <a:solidFill>
                  <a:schemeClr val="bg2">
                    <a:lumMod val="50000"/>
                  </a:schemeClr>
                </a:solidFill>
                <a:latin typeface="Vazirmatn"/>
                <a:cs typeface="B Nazanin" panose="00000400000000000000" pitchFamily="2" charset="-78"/>
              </a:rPr>
              <a:t> </a:t>
            </a:r>
            <a:r>
              <a:rPr sz="1600" b="1" i="0" u="none" dirty="0" err="1">
                <a:solidFill>
                  <a:schemeClr val="bg2">
                    <a:lumMod val="50000"/>
                  </a:schemeClr>
                </a:solidFill>
                <a:latin typeface="Vazirmatn"/>
                <a:cs typeface="B Nazanin" panose="00000400000000000000" pitchFamily="2" charset="-78"/>
              </a:rPr>
              <a:t>کارشناسی</a:t>
            </a:r>
            <a:r>
              <a:rPr sz="1600" b="1" i="0" u="none" dirty="0">
                <a:solidFill>
                  <a:schemeClr val="bg2">
                    <a:lumMod val="50000"/>
                  </a:schemeClr>
                </a:solidFill>
                <a:latin typeface="Vazirmatn"/>
                <a:cs typeface="B Nazanin" panose="00000400000000000000" pitchFamily="2" charset="-78"/>
              </a:rPr>
              <a:t> </a:t>
            </a:r>
            <a:r>
              <a:rPr sz="1600" b="1" i="0" u="none" dirty="0" err="1">
                <a:solidFill>
                  <a:schemeClr val="bg2">
                    <a:lumMod val="50000"/>
                  </a:schemeClr>
                </a:solidFill>
                <a:latin typeface="Vazirmatn"/>
                <a:cs typeface="B Nazanin" panose="00000400000000000000" pitchFamily="2" charset="-78"/>
              </a:rPr>
              <a:t>مهندسی</a:t>
            </a:r>
            <a:r>
              <a:rPr sz="1600" b="1" i="0" u="none" dirty="0">
                <a:solidFill>
                  <a:schemeClr val="bg2">
                    <a:lumMod val="50000"/>
                  </a:schemeClr>
                </a:solidFill>
                <a:latin typeface="Vazirmatn"/>
                <a:cs typeface="B Nazanin" panose="00000400000000000000" pitchFamily="2" charset="-78"/>
              </a:rPr>
              <a:t> </a:t>
            </a:r>
            <a:r>
              <a:rPr sz="1600" b="1" i="0" u="none" dirty="0" err="1">
                <a:solidFill>
                  <a:schemeClr val="bg2">
                    <a:lumMod val="50000"/>
                  </a:schemeClr>
                </a:solidFill>
                <a:latin typeface="Vazirmatn"/>
                <a:cs typeface="B Nazanin" panose="00000400000000000000" pitchFamily="2" charset="-78"/>
              </a:rPr>
              <a:t>شیمی</a:t>
            </a:r>
            <a:endParaRPr sz="1600" b="1" i="0" u="none" dirty="0">
              <a:solidFill>
                <a:schemeClr val="bg2">
                  <a:lumMod val="50000"/>
                </a:schemeClr>
              </a:solidFill>
              <a:latin typeface="Vazirmatn"/>
              <a:cs typeface="B Nazani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593B63-E956-2588-6C4C-595EF9BC7566}"/>
              </a:ext>
            </a:extLst>
          </p:cNvPr>
          <p:cNvSpPr txBox="1"/>
          <p:nvPr/>
        </p:nvSpPr>
        <p:spPr>
          <a:xfrm>
            <a:off x="904875" y="3092245"/>
            <a:ext cx="10601325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4455"/>
              </a:lnSpc>
            </a:pP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توسعه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یک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بسته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نرم‌افزاری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هوشمند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جهت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پیش‌بینی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و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تفسیر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داده‌های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صنعتی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واحد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اکسیدسازی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یک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کارخانه</a:t>
            </a:r>
            <a:r>
              <a:rPr sz="3300" b="1" i="0" u="none" dirty="0">
                <a:latin typeface="Vazirmatn" pitchFamily="2" charset="-78"/>
                <a:cs typeface="B Nazanin" panose="00000400000000000000" pitchFamily="2" charset="-78"/>
              </a:rPr>
              <a:t> </a:t>
            </a:r>
            <a:r>
              <a:rPr sz="3300" b="1" i="0" u="none" dirty="0" err="1">
                <a:latin typeface="Vazirmatn" pitchFamily="2" charset="-78"/>
                <a:cs typeface="B Nazanin" panose="00000400000000000000" pitchFamily="2" charset="-78"/>
              </a:rPr>
              <a:t>باتری‌سازی</a:t>
            </a:r>
            <a:endParaRPr sz="3300" b="1" i="0" u="none" dirty="0">
              <a:latin typeface="Vazirmatn" pitchFamily="2" charset="-78"/>
              <a:cs typeface="B Nazanin" panose="00000400000000000000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E28DA2-7949-B83A-A414-79DC2B6D58E2}"/>
              </a:ext>
            </a:extLst>
          </p:cNvPr>
          <p:cNvSpPr txBox="1"/>
          <p:nvPr/>
        </p:nvSpPr>
        <p:spPr>
          <a:xfrm>
            <a:off x="9877425" y="5724525"/>
            <a:ext cx="162877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u="none">
                <a:solidFill>
                  <a:schemeClr val="tx1">
                    <a:lumMod val="75000"/>
                    <a:lumOff val="25000"/>
                  </a:schemeClr>
                </a:solidFill>
                <a:latin typeface="Vazirmatn"/>
                <a:cs typeface="B Nazanin" panose="00000400000000000000" pitchFamily="2" charset="-78"/>
              </a:rPr>
              <a:t>پژوهشگر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A80CD0-5844-D61B-BA80-CD140C8C94AF}"/>
              </a:ext>
            </a:extLst>
          </p:cNvPr>
          <p:cNvSpPr txBox="1"/>
          <p:nvPr/>
        </p:nvSpPr>
        <p:spPr>
          <a:xfrm>
            <a:off x="9877425" y="5991225"/>
            <a:ext cx="16287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b="1" i="0" u="none" dirty="0" err="1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سیدحسین</a:t>
            </a:r>
            <a:r>
              <a:rPr b="1" i="0" u="none" dirty="0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 </a:t>
            </a:r>
            <a:r>
              <a:rPr b="1" i="0" u="none" dirty="0" err="1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فاطمی</a:t>
            </a:r>
            <a:endParaRPr b="1" i="0" u="none" dirty="0">
              <a:solidFill>
                <a:schemeClr val="accent1">
                  <a:lumMod val="75000"/>
                </a:schemeClr>
              </a:solidFill>
              <a:latin typeface="Vazirmatn"/>
              <a:cs typeface="B Nazanin" panose="00000400000000000000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CCADA9-5B16-0E5C-6EE0-CC5523CED433}"/>
              </a:ext>
            </a:extLst>
          </p:cNvPr>
          <p:cNvSpPr txBox="1"/>
          <p:nvPr/>
        </p:nvSpPr>
        <p:spPr>
          <a:xfrm>
            <a:off x="7848600" y="5724525"/>
            <a:ext cx="151447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u="none">
                <a:solidFill>
                  <a:schemeClr val="tx1">
                    <a:lumMod val="75000"/>
                    <a:lumOff val="25000"/>
                  </a:schemeClr>
                </a:solidFill>
                <a:latin typeface="Vazirmatn"/>
                <a:cs typeface="B Nazanin" panose="00000400000000000000" pitchFamily="2" charset="-78"/>
              </a:rPr>
              <a:t>استاد راهنما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A0DF11-8D1B-A17C-E393-DCE8875FF877}"/>
              </a:ext>
            </a:extLst>
          </p:cNvPr>
          <p:cNvSpPr txBox="1"/>
          <p:nvPr/>
        </p:nvSpPr>
        <p:spPr>
          <a:xfrm>
            <a:off x="7848600" y="5991225"/>
            <a:ext cx="15144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b="1" i="0" u="none" dirty="0" err="1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دکتر</a:t>
            </a:r>
            <a:r>
              <a:rPr b="1" i="0" u="none" dirty="0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 </a:t>
            </a:r>
            <a:r>
              <a:rPr b="1" i="0" u="none" dirty="0" err="1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امید</a:t>
            </a:r>
            <a:r>
              <a:rPr b="1" i="0" u="none" dirty="0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 </a:t>
            </a:r>
            <a:r>
              <a:rPr b="1" i="0" u="none" dirty="0" err="1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وحیدی</a:t>
            </a:r>
            <a:endParaRPr b="1" i="0" u="none" dirty="0">
              <a:solidFill>
                <a:schemeClr val="accent1">
                  <a:lumMod val="75000"/>
                </a:schemeClr>
              </a:solidFill>
              <a:latin typeface="Vazirmatn"/>
              <a:cs typeface="B Nazanin" panose="00000400000000000000" pitchFamily="2" charset="-7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ACBDAE-D8ED-A082-4506-02A47768297F}"/>
              </a:ext>
            </a:extLst>
          </p:cNvPr>
          <p:cNvSpPr txBox="1"/>
          <p:nvPr/>
        </p:nvSpPr>
        <p:spPr>
          <a:xfrm>
            <a:off x="5419725" y="5724525"/>
            <a:ext cx="191452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Vazirmatn"/>
                <a:cs typeface="B Nazanin" panose="00000400000000000000" pitchFamily="2" charset="-78"/>
              </a:rPr>
              <a:t>مطالعه</a:t>
            </a:r>
            <a:r>
              <a:rPr sz="1100" b="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Vazirmatn"/>
                <a:cs typeface="B Nazanin" panose="00000400000000000000" pitchFamily="2" charset="-78"/>
              </a:rPr>
              <a:t> </a:t>
            </a:r>
            <a:r>
              <a:rPr sz="1100" b="0" i="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Vazirmatn"/>
                <a:cs typeface="B Nazanin" panose="00000400000000000000" pitchFamily="2" charset="-78"/>
              </a:rPr>
              <a:t>موردی</a:t>
            </a:r>
            <a:r>
              <a:rPr sz="1100" b="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Vazirmatn"/>
                <a:cs typeface="B Nazanin" panose="00000400000000000000" pitchFamily="2" charset="-78"/>
              </a:rPr>
              <a:t> </a:t>
            </a:r>
            <a:r>
              <a:rPr sz="1100" b="0" i="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Vazirmatn"/>
                <a:cs typeface="B Nazanin" panose="00000400000000000000" pitchFamily="2" charset="-78"/>
              </a:rPr>
              <a:t>صنعتی</a:t>
            </a:r>
            <a:endParaRPr sz="11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Vazirmatn"/>
              <a:cs typeface="B Nazanin" panose="00000400000000000000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A129CB-5030-B5A8-50DA-242D6B665CD8}"/>
              </a:ext>
            </a:extLst>
          </p:cNvPr>
          <p:cNvSpPr txBox="1"/>
          <p:nvPr/>
        </p:nvSpPr>
        <p:spPr>
          <a:xfrm>
            <a:off x="5419725" y="5991225"/>
            <a:ext cx="191452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b="1" i="0" u="none" dirty="0" err="1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شرکت</a:t>
            </a:r>
            <a:r>
              <a:rPr b="1" i="0" u="none" dirty="0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 </a:t>
            </a:r>
            <a:r>
              <a:rPr b="1" i="0" u="none" dirty="0" err="1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وایا</a:t>
            </a:r>
            <a:r>
              <a:rPr b="1" i="0" u="none" dirty="0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 </a:t>
            </a:r>
            <a:r>
              <a:rPr b="1" i="0" u="none" dirty="0" err="1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باتری</a:t>
            </a:r>
            <a:r>
              <a:rPr b="1" i="0" u="none" dirty="0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 </a:t>
            </a:r>
            <a:r>
              <a:rPr b="1" i="0" u="none" dirty="0" err="1">
                <a:solidFill>
                  <a:schemeClr val="accent1">
                    <a:lumMod val="75000"/>
                  </a:schemeClr>
                </a:solidFill>
                <a:latin typeface="Vazirmatn"/>
                <a:cs typeface="B Nazanin" panose="00000400000000000000" pitchFamily="2" charset="-78"/>
              </a:rPr>
              <a:t>صدرا</a:t>
            </a:r>
            <a:endParaRPr b="1" i="0" u="none" dirty="0">
              <a:solidFill>
                <a:schemeClr val="accent1">
                  <a:lumMod val="75000"/>
                </a:schemeClr>
              </a:solidFill>
              <a:latin typeface="Vazirmatn"/>
              <a:cs typeface="B Nazanin" panose="00000400000000000000" pitchFamily="2" charset="-78"/>
            </a:endParaRPr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DED49877-5A37-F192-6203-95211C85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55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74B6FA-EAFC-35F8-0931-4A96A880A49D}"/>
              </a:ext>
            </a:extLst>
          </p:cNvPr>
          <p:cNvSpPr/>
          <p:nvPr/>
        </p:nvSpPr>
        <p:spPr>
          <a:xfrm rot="2107489" flipH="1" flipV="1">
            <a:off x="-2477222" y="-2129374"/>
            <a:ext cx="9535195" cy="27992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C251FE9-E32E-262C-0C04-B519867BBF8F}"/>
              </a:ext>
            </a:extLst>
          </p:cNvPr>
          <p:cNvSpPr/>
          <p:nvPr/>
        </p:nvSpPr>
        <p:spPr>
          <a:xfrm rot="1480091" flipH="1" flipV="1">
            <a:off x="-5116768" y="-632560"/>
            <a:ext cx="9535195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FE7693-7503-35E6-FA81-1F9B0C744D90}"/>
              </a:ext>
            </a:extLst>
          </p:cNvPr>
          <p:cNvSpPr/>
          <p:nvPr/>
        </p:nvSpPr>
        <p:spPr>
          <a:xfrm rot="810985" flipH="1" flipV="1">
            <a:off x="-7181938" y="1758473"/>
            <a:ext cx="9535195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AA55F1B-9809-6BD9-A305-8A36F3B0CCAD}"/>
              </a:ext>
            </a:extLst>
          </p:cNvPr>
          <p:cNvSpPr/>
          <p:nvPr/>
        </p:nvSpPr>
        <p:spPr>
          <a:xfrm rot="1977989">
            <a:off x="6082121" y="5875542"/>
            <a:ext cx="8824823" cy="27992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066BECF-DEAC-C7BA-59FF-C665BF7807A6}"/>
              </a:ext>
            </a:extLst>
          </p:cNvPr>
          <p:cNvSpPr/>
          <p:nvPr/>
        </p:nvSpPr>
        <p:spPr>
          <a:xfrm rot="1226062">
            <a:off x="8444592" y="4028709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3DB8044-8745-558D-1648-B8AE410BBA4E}"/>
              </a:ext>
            </a:extLst>
          </p:cNvPr>
          <p:cNvSpPr/>
          <p:nvPr/>
        </p:nvSpPr>
        <p:spPr>
          <a:xfrm rot="540485">
            <a:off x="10255510" y="1415408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A0D699-39FA-EED7-E25E-BD84F7E0C6CD}"/>
              </a:ext>
            </a:extLst>
          </p:cNvPr>
          <p:cNvSpPr txBox="1"/>
          <p:nvPr/>
        </p:nvSpPr>
        <p:spPr>
          <a:xfrm>
            <a:off x="10217947" y="1867438"/>
            <a:ext cx="219747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مقدمه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84E142-0CD2-027C-0B54-5342D3F993AF}"/>
              </a:ext>
            </a:extLst>
          </p:cNvPr>
          <p:cNvSpPr txBox="1"/>
          <p:nvPr/>
        </p:nvSpPr>
        <p:spPr>
          <a:xfrm>
            <a:off x="8470890" y="3615246"/>
            <a:ext cx="2476697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مروری بر</a:t>
            </a:r>
            <a:br>
              <a:rPr lang="fa-IR" sz="3600" b="1" dirty="0">
                <a:cs typeface="B Nazanin" panose="00000400000000000000" pitchFamily="2" charset="-78"/>
              </a:rPr>
            </a:br>
            <a:r>
              <a:rPr lang="fa-IR" sz="3600" b="1" dirty="0">
                <a:cs typeface="B Nazanin" panose="00000400000000000000" pitchFamily="2" charset="-78"/>
              </a:rPr>
              <a:t> منابع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8A6669-22C5-80D9-1041-03DD2E197069}"/>
              </a:ext>
            </a:extLst>
          </p:cNvPr>
          <p:cNvSpPr txBox="1"/>
          <p:nvPr/>
        </p:nvSpPr>
        <p:spPr>
          <a:xfrm>
            <a:off x="6491661" y="5114597"/>
            <a:ext cx="219747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تحقیق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D09257-AF5D-D30E-8512-15F989536BFE}"/>
              </a:ext>
            </a:extLst>
          </p:cNvPr>
          <p:cNvSpPr txBox="1"/>
          <p:nvPr/>
        </p:nvSpPr>
        <p:spPr>
          <a:xfrm>
            <a:off x="4227208" y="772175"/>
            <a:ext cx="219747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یافته‌ها و تفسیر آنها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9CE18B-00CB-CEB1-71A1-E70A04C92140}"/>
              </a:ext>
            </a:extLst>
          </p:cNvPr>
          <p:cNvSpPr txBox="1"/>
          <p:nvPr/>
        </p:nvSpPr>
        <p:spPr>
          <a:xfrm>
            <a:off x="1740220" y="1923286"/>
            <a:ext cx="219747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جمع‌بندی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3FC902-E90E-7975-84D6-0AA24485566D}"/>
              </a:ext>
            </a:extLst>
          </p:cNvPr>
          <p:cNvSpPr txBox="1"/>
          <p:nvPr/>
        </p:nvSpPr>
        <p:spPr>
          <a:xfrm>
            <a:off x="101618" y="3631086"/>
            <a:ext cx="219747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مراجع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E21F82-2092-ADFC-244F-F05F1C5FF8CF}"/>
              </a:ext>
            </a:extLst>
          </p:cNvPr>
          <p:cNvSpPr txBox="1"/>
          <p:nvPr/>
        </p:nvSpPr>
        <p:spPr>
          <a:xfrm>
            <a:off x="4600175" y="3013501"/>
            <a:ext cx="333280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4800" b="1" dirty="0">
                <a:cs typeface="B Nazanin" panose="00000400000000000000" pitchFamily="2" charset="-78"/>
              </a:rPr>
              <a:t>فهرست مطالب</a:t>
            </a: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57E86093-C2A9-D486-8EE2-DF165BB0D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111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46B752-125E-6718-891C-1172994C8E5E}"/>
              </a:ext>
            </a:extLst>
          </p:cNvPr>
          <p:cNvSpPr/>
          <p:nvPr/>
        </p:nvSpPr>
        <p:spPr>
          <a:xfrm>
            <a:off x="10022899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B4D28-A623-EFCB-EE75-C4736ACC716C}"/>
              </a:ext>
            </a:extLst>
          </p:cNvPr>
          <p:cNvSpPr txBox="1"/>
          <p:nvPr/>
        </p:nvSpPr>
        <p:spPr>
          <a:xfrm>
            <a:off x="10022899" y="3371025"/>
            <a:ext cx="219747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مقدمه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AFE010-D75A-8090-390A-70486FA9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76947-FFA0-44F6-8F12-C0D461897C70}" type="slidenum">
              <a:rPr lang="en-US" smtClean="0"/>
              <a:t>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4072DF-B32B-FEE6-E245-3730A0764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7545"/>
            <a:ext cx="2174339" cy="21743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115478-AD59-D96D-9CD8-12DCA7F33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66" t="12832" r="29056" b="12388"/>
          <a:stretch>
            <a:fillRect/>
          </a:stretch>
        </p:blipFill>
        <p:spPr>
          <a:xfrm>
            <a:off x="4746858" y="1253905"/>
            <a:ext cx="902826" cy="10595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24C438-A36E-04D5-A041-EAA29B5332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389" y="1048082"/>
            <a:ext cx="1471212" cy="14712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D78C8A-AE3B-AD98-84F5-F94355387B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992" y="3273488"/>
            <a:ext cx="902826" cy="9028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DBFB94-DD2D-1F1E-911D-D506E59C3D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2" t="12164" r="13567" b="15413"/>
          <a:stretch>
            <a:fillRect/>
          </a:stretch>
        </p:blipFill>
        <p:spPr>
          <a:xfrm>
            <a:off x="4586423" y="4240128"/>
            <a:ext cx="1113817" cy="10595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292D60-634B-7FC3-E009-789E4FAD9D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570" y="5490265"/>
            <a:ext cx="966994" cy="966994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257A7A-901A-719C-6C3D-92F9033D4A2E}"/>
              </a:ext>
            </a:extLst>
          </p:cNvPr>
          <p:cNvCxnSpPr/>
          <p:nvPr/>
        </p:nvCxnSpPr>
        <p:spPr>
          <a:xfrm>
            <a:off x="3311486" y="1783688"/>
            <a:ext cx="1463040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171B88-2F2C-0016-8809-5BFDBAC8FDB4}"/>
              </a:ext>
            </a:extLst>
          </p:cNvPr>
          <p:cNvCxnSpPr/>
          <p:nvPr/>
        </p:nvCxnSpPr>
        <p:spPr>
          <a:xfrm>
            <a:off x="5649684" y="1783688"/>
            <a:ext cx="1463040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BF3E276-26AB-06DD-93EF-CAD8E0A13866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2454288" y="1782965"/>
            <a:ext cx="1413017" cy="2470853"/>
          </a:xfrm>
          <a:prstGeom prst="bentConnector2">
            <a:avLst/>
          </a:prstGeom>
          <a:ln w="444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8009D26-79D5-7F63-A9E9-96BAA519EBE3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1867322" y="2369931"/>
            <a:ext cx="2578082" cy="2461987"/>
          </a:xfrm>
          <a:prstGeom prst="bentConnector3">
            <a:avLst>
              <a:gd name="adj1" fmla="val 99780"/>
            </a:avLst>
          </a:prstGeom>
          <a:ln w="444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C64B0192-12A2-C735-36A2-513F96C6CEA9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1291932" y="2945321"/>
            <a:ext cx="3728861" cy="2461985"/>
          </a:xfrm>
          <a:prstGeom prst="bentConnector3">
            <a:avLst>
              <a:gd name="adj1" fmla="val 99905"/>
            </a:avLst>
          </a:prstGeom>
          <a:ln w="444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2C29D310-F806-AAFC-224B-281B9954AE21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6006561" y="2519294"/>
            <a:ext cx="2187434" cy="1201730"/>
          </a:xfrm>
          <a:prstGeom prst="bentConnector2">
            <a:avLst/>
          </a:prstGeom>
          <a:ln w="25400">
            <a:solidFill>
              <a:srgbClr val="C00000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99726BE-08E7-FDCC-7366-4F46FBD42B60}"/>
              </a:ext>
            </a:extLst>
          </p:cNvPr>
          <p:cNvCxnSpPr>
            <a:cxnSpLocks/>
          </p:cNvCxnSpPr>
          <p:nvPr/>
        </p:nvCxnSpPr>
        <p:spPr>
          <a:xfrm flipV="1">
            <a:off x="6150939" y="3600264"/>
            <a:ext cx="2043056" cy="1289702"/>
          </a:xfrm>
          <a:prstGeom prst="bentConnector3">
            <a:avLst>
              <a:gd name="adj1" fmla="val 100253"/>
            </a:avLst>
          </a:prstGeom>
          <a:ln w="25400">
            <a:solidFill>
              <a:srgbClr val="C00000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857E8DBE-257A-43CF-179A-6BA5C78D80BC}"/>
              </a:ext>
            </a:extLst>
          </p:cNvPr>
          <p:cNvCxnSpPr>
            <a:cxnSpLocks/>
          </p:cNvCxnSpPr>
          <p:nvPr/>
        </p:nvCxnSpPr>
        <p:spPr>
          <a:xfrm flipV="1">
            <a:off x="6096000" y="4975734"/>
            <a:ext cx="2097995" cy="1065011"/>
          </a:xfrm>
          <a:prstGeom prst="bentConnector3">
            <a:avLst>
              <a:gd name="adj1" fmla="val 99702"/>
            </a:avLst>
          </a:prstGeom>
          <a:ln w="25400">
            <a:solidFill>
              <a:srgbClr val="C00000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8FFE630D-B42A-4DDF-0918-689439A601AF}"/>
              </a:ext>
            </a:extLst>
          </p:cNvPr>
          <p:cNvSpPr/>
          <p:nvPr/>
        </p:nvSpPr>
        <p:spPr>
          <a:xfrm rot="18620636">
            <a:off x="12340968" y="5915293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583775A4-9BF7-0747-9A66-D7278011AD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569" y="3210693"/>
            <a:ext cx="966994" cy="96699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6DE5AFD1-8ECB-270F-B1E6-D367269A16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829" y="4385589"/>
            <a:ext cx="966994" cy="96699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BF910EA7-AE30-A3FD-97D0-AE9795BCDA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447" y="5487439"/>
            <a:ext cx="966994" cy="966994"/>
          </a:xfrm>
          <a:prstGeom prst="rect">
            <a:avLst/>
          </a:prstGeom>
        </p:spPr>
      </p:pic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044DC7FB-9A3B-FBAD-5F22-2AD3264716BE}"/>
              </a:ext>
            </a:extLst>
          </p:cNvPr>
          <p:cNvSpPr/>
          <p:nvPr/>
        </p:nvSpPr>
        <p:spPr>
          <a:xfrm flipH="1" flipV="1">
            <a:off x="-6432885" y="449178"/>
            <a:ext cx="5942104" cy="8181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F3AD0DE-3B9B-ED6A-B882-FACB33E84B09}"/>
              </a:ext>
            </a:extLst>
          </p:cNvPr>
          <p:cNvSpPr txBox="1"/>
          <p:nvPr/>
        </p:nvSpPr>
        <p:spPr>
          <a:xfrm>
            <a:off x="-6432884" y="627419"/>
            <a:ext cx="5919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4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کاربرد یادگیری ماشین در مهندسی فرآیند و صنایع شیمیایی</a:t>
            </a:r>
            <a:endParaRPr lang="en-US" sz="2400" b="1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3CB514A-A667-1300-BE6C-6BA7D38E43F5}"/>
              </a:ext>
            </a:extLst>
          </p:cNvPr>
          <p:cNvSpPr txBox="1"/>
          <p:nvPr/>
        </p:nvSpPr>
        <p:spPr>
          <a:xfrm>
            <a:off x="13632371" y="9125857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مروری بر منابع</a:t>
            </a:r>
          </a:p>
        </p:txBody>
      </p:sp>
    </p:spTree>
    <p:extLst>
      <p:ext uri="{BB962C8B-B14F-4D97-AF65-F5344CB8AC3E}">
        <p14:creationId xmlns:p14="http://schemas.microsoft.com/office/powerpoint/2010/main" val="3996431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77E51-9979-254D-4E1C-E4F1C107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4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9DFB92-0BFC-BB38-BDD6-EE62F6F828C4}"/>
              </a:ext>
            </a:extLst>
          </p:cNvPr>
          <p:cNvSpPr/>
          <p:nvPr/>
        </p:nvSpPr>
        <p:spPr>
          <a:xfrm rot="2302834">
            <a:off x="11258142" y="-772216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B9E028-BA23-D5F2-091B-72A8369681A4}"/>
              </a:ext>
            </a:extLst>
          </p:cNvPr>
          <p:cNvSpPr/>
          <p:nvPr/>
        </p:nvSpPr>
        <p:spPr>
          <a:xfrm>
            <a:off x="10022898" y="2294555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CF7805-2E9E-4C55-2267-DA5DE876CA14}"/>
              </a:ext>
            </a:extLst>
          </p:cNvPr>
          <p:cNvSpPr txBox="1"/>
          <p:nvPr/>
        </p:nvSpPr>
        <p:spPr>
          <a:xfrm>
            <a:off x="10022898" y="309402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مروری بر منابع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D1357C-A8DB-34B6-04F7-49192E1F8776}"/>
              </a:ext>
            </a:extLst>
          </p:cNvPr>
          <p:cNvSpPr txBox="1"/>
          <p:nvPr/>
        </p:nvSpPr>
        <p:spPr>
          <a:xfrm>
            <a:off x="11989034" y="-1656589"/>
            <a:ext cx="219747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مقدمه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057F38E-4DD8-B97F-A271-34494FA99F10}"/>
              </a:ext>
            </a:extLst>
          </p:cNvPr>
          <p:cNvSpPr/>
          <p:nvPr/>
        </p:nvSpPr>
        <p:spPr>
          <a:xfrm flipH="1" flipV="1">
            <a:off x="-240632" y="449177"/>
            <a:ext cx="6182735" cy="8181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92924-37C4-CC55-4317-BFC42BF13CD3}"/>
              </a:ext>
            </a:extLst>
          </p:cNvPr>
          <p:cNvSpPr txBox="1"/>
          <p:nvPr/>
        </p:nvSpPr>
        <p:spPr>
          <a:xfrm>
            <a:off x="0" y="627419"/>
            <a:ext cx="5919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4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کاربرد یادگیری ماشین در مهندسی فرآیند و صنایع شیمیایی</a:t>
            </a:r>
            <a:endParaRPr lang="en-US" sz="2400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79D7752-D3BB-D94F-8782-6906DDCD3260}"/>
              </a:ext>
            </a:extLst>
          </p:cNvPr>
          <p:cNvSpPr/>
          <p:nvPr/>
        </p:nvSpPr>
        <p:spPr>
          <a:xfrm>
            <a:off x="-3300511" y="1815068"/>
            <a:ext cx="4475017" cy="47948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84F407-03D6-1B57-9B48-162E68C0EC89}"/>
              </a:ext>
            </a:extLst>
          </p:cNvPr>
          <p:cNvSpPr txBox="1"/>
          <p:nvPr/>
        </p:nvSpPr>
        <p:spPr>
          <a:xfrm>
            <a:off x="1174506" y="1815068"/>
            <a:ext cx="1873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4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بختوم و همکاران </a:t>
            </a:r>
            <a:endParaRPr lang="en-US" sz="24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CC14CEB-47C3-37BB-9CF8-903DC75BC0C4}"/>
              </a:ext>
            </a:extLst>
          </p:cNvPr>
          <p:cNvSpPr/>
          <p:nvPr/>
        </p:nvSpPr>
        <p:spPr>
          <a:xfrm>
            <a:off x="-3300511" y="3094026"/>
            <a:ext cx="5538019" cy="479487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73FF0F-4ECC-8EAC-4836-CAA8C6E0BB73}"/>
              </a:ext>
            </a:extLst>
          </p:cNvPr>
          <p:cNvSpPr txBox="1"/>
          <p:nvPr/>
        </p:nvSpPr>
        <p:spPr>
          <a:xfrm>
            <a:off x="2237508" y="3094026"/>
            <a:ext cx="1873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24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صغیر</a:t>
            </a:r>
            <a:r>
              <a:rPr lang="ar-SA" sz="24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 و همکاران </a:t>
            </a:r>
            <a:endParaRPr lang="en-US" sz="2400" b="1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422B2B1-C240-2D7A-5B70-EDFDC9BFCD92}"/>
              </a:ext>
            </a:extLst>
          </p:cNvPr>
          <p:cNvSpPr/>
          <p:nvPr/>
        </p:nvSpPr>
        <p:spPr>
          <a:xfrm>
            <a:off x="-3300510" y="4390806"/>
            <a:ext cx="6568936" cy="479487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B540A9-E74D-DC3E-0823-542BD4DCCE16}"/>
              </a:ext>
            </a:extLst>
          </p:cNvPr>
          <p:cNvSpPr txBox="1"/>
          <p:nvPr/>
        </p:nvSpPr>
        <p:spPr>
          <a:xfrm>
            <a:off x="3268425" y="4390806"/>
            <a:ext cx="2025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24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داسیلوا</a:t>
            </a:r>
            <a:r>
              <a:rPr lang="ar-SA" sz="24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 و همکاران </a:t>
            </a:r>
            <a:endParaRPr lang="en-US" sz="24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A9704C-AAFA-6D67-3C2C-419A63977F75}"/>
              </a:ext>
            </a:extLst>
          </p:cNvPr>
          <p:cNvSpPr/>
          <p:nvPr/>
        </p:nvSpPr>
        <p:spPr>
          <a:xfrm>
            <a:off x="-3300511" y="5687586"/>
            <a:ext cx="7599853" cy="479487"/>
          </a:xfrm>
          <a:prstGeom prst="roundRect">
            <a:avLst>
              <a:gd name="adj" fmla="val 50000"/>
            </a:avLst>
          </a:prstGeom>
          <a:solidFill>
            <a:srgbClr val="EF98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C93E802-2372-DCED-3748-E11BD922A449}"/>
              </a:ext>
            </a:extLst>
          </p:cNvPr>
          <p:cNvSpPr/>
          <p:nvPr/>
        </p:nvSpPr>
        <p:spPr>
          <a:xfrm>
            <a:off x="3268425" y="1533515"/>
            <a:ext cx="3801039" cy="1039501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60A4826-5E2E-B381-8BB2-CB10149296BF}"/>
              </a:ext>
            </a:extLst>
          </p:cNvPr>
          <p:cNvSpPr/>
          <p:nvPr/>
        </p:nvSpPr>
        <p:spPr>
          <a:xfrm>
            <a:off x="4214025" y="2825030"/>
            <a:ext cx="3801039" cy="1039501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A1B0D4-733B-E636-79CF-2D1FE7E00EC6}"/>
              </a:ext>
            </a:extLst>
          </p:cNvPr>
          <p:cNvSpPr txBox="1"/>
          <p:nvPr/>
        </p:nvSpPr>
        <p:spPr>
          <a:xfrm>
            <a:off x="4299341" y="5687586"/>
            <a:ext cx="20254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24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کالینگ</a:t>
            </a:r>
            <a:r>
              <a:rPr lang="ar-SA" sz="24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 و همکاران </a:t>
            </a:r>
            <a:endParaRPr lang="en-US" sz="2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401C87-AEF9-BDAF-961A-BC5839F315AD}"/>
              </a:ext>
            </a:extLst>
          </p:cNvPr>
          <p:cNvSpPr txBox="1"/>
          <p:nvPr/>
        </p:nvSpPr>
        <p:spPr>
          <a:xfrm>
            <a:off x="3268424" y="1675882"/>
            <a:ext cx="38010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22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یافتن شرایط بهینه عملیاتی جهت بیشینه‌سازی راندمان تولید آلومینا </a:t>
            </a:r>
            <a:endParaRPr lang="en-US" sz="2200" b="1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EA84A10-1EE0-0818-E5A6-631EA3626236}"/>
              </a:ext>
            </a:extLst>
          </p:cNvPr>
          <p:cNvSpPr/>
          <p:nvPr/>
        </p:nvSpPr>
        <p:spPr>
          <a:xfrm>
            <a:off x="5386704" y="4101887"/>
            <a:ext cx="3801039" cy="1039501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BCA12C-654F-F60E-113A-589A587130A8}"/>
              </a:ext>
            </a:extLst>
          </p:cNvPr>
          <p:cNvSpPr txBox="1"/>
          <p:nvPr/>
        </p:nvSpPr>
        <p:spPr>
          <a:xfrm>
            <a:off x="4266544" y="2965621"/>
            <a:ext cx="37485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2200" b="1" dirty="0">
                <a:effectLst/>
                <a:ea typeface="Times New Roman" panose="02020603050405020304" pitchFamily="18" charset="0"/>
                <a:cs typeface="B Nazanin" panose="00000400000000000000" pitchFamily="2" charset="-78"/>
              </a:rPr>
              <a:t>پیش‌بینی و بهینه‌سازی عدد اکتان پژوهشی</a:t>
            </a:r>
            <a:r>
              <a:rPr lang="fa-IR" sz="2200" b="1" dirty="0"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a-IR" b="1" dirty="0">
                <a:cs typeface="+mj-cs"/>
              </a:rPr>
              <a:t> </a:t>
            </a:r>
            <a:r>
              <a:rPr lang="fa-IR" b="1" dirty="0">
                <a:effectLst/>
                <a:ea typeface="Times New Roman" panose="02020603050405020304" pitchFamily="18" charset="0"/>
                <a:cs typeface="+mj-cs"/>
              </a:rPr>
              <a:t> </a:t>
            </a:r>
            <a:r>
              <a:rPr lang="fa-IR" sz="2200" b="1" dirty="0">
                <a:effectLst/>
                <a:ea typeface="Times New Roman" panose="02020603050405020304" pitchFamily="18" charset="0"/>
                <a:cs typeface="B Nazanin" panose="00000400000000000000" pitchFamily="2" charset="-78"/>
              </a:rPr>
              <a:t>نفتای پالایشگاهی</a:t>
            </a:r>
            <a:endParaRPr lang="en-US" sz="2200" b="1" dirty="0">
              <a:cs typeface="B Nazanin" panose="00000400000000000000" pitchFamily="2" charset="-78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A3DAFA0-A04B-8290-C80C-71998943C60F}"/>
              </a:ext>
            </a:extLst>
          </p:cNvPr>
          <p:cNvSpPr/>
          <p:nvPr/>
        </p:nvSpPr>
        <p:spPr>
          <a:xfrm>
            <a:off x="6453146" y="5364975"/>
            <a:ext cx="3801039" cy="1039501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AC4B78-3EF9-F9AD-2E39-4FB6BEABA693}"/>
              </a:ext>
            </a:extLst>
          </p:cNvPr>
          <p:cNvSpPr txBox="1"/>
          <p:nvPr/>
        </p:nvSpPr>
        <p:spPr>
          <a:xfrm>
            <a:off x="5386703" y="4267467"/>
            <a:ext cx="38010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22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بهینه‌سازی سیستم‌های واکنش بیودیزل با استفاده از تکنیک‌های یادگیری ماشین</a:t>
            </a:r>
            <a:endParaRPr lang="en-US" sz="22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8DF2D2-BA92-D013-0BF9-7CDC30F90B48}"/>
              </a:ext>
            </a:extLst>
          </p:cNvPr>
          <p:cNvSpPr txBox="1"/>
          <p:nvPr/>
        </p:nvSpPr>
        <p:spPr>
          <a:xfrm>
            <a:off x="6453147" y="5518962"/>
            <a:ext cx="38010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2200" b="1" dirty="0">
                <a:effectLst/>
                <a:latin typeface="+mn-lt"/>
                <a:ea typeface="Times New Roman" panose="02020603050405020304" pitchFamily="18" charset="0"/>
                <a:cs typeface="B Nazanin" panose="00000400000000000000" pitchFamily="2" charset="-78"/>
              </a:rPr>
              <a:t>پیش‌بینی داده‌محور خواص محصولات میانی در پالایش نفت</a:t>
            </a:r>
            <a:endParaRPr lang="en-US" sz="2200" b="1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CF3D495-65CC-2802-D3BE-3885D90852C6}"/>
              </a:ext>
            </a:extLst>
          </p:cNvPr>
          <p:cNvSpPr/>
          <p:nvPr/>
        </p:nvSpPr>
        <p:spPr>
          <a:xfrm flipH="1" flipV="1">
            <a:off x="-6423367" y="449177"/>
            <a:ext cx="6182735" cy="81814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0CE018-7240-6594-9ACD-21DABF597D41}"/>
              </a:ext>
            </a:extLst>
          </p:cNvPr>
          <p:cNvSpPr txBox="1"/>
          <p:nvPr/>
        </p:nvSpPr>
        <p:spPr>
          <a:xfrm>
            <a:off x="-6182735" y="627419"/>
            <a:ext cx="5919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400" b="1" dirty="0">
                <a:cs typeface="B Nazanin" panose="00000400000000000000" pitchFamily="2" charset="-78"/>
              </a:rPr>
              <a:t>هوش مصنوعی قابل‌تفسیر</a:t>
            </a:r>
            <a:r>
              <a:rPr lang="fa-IR" sz="2400" b="1" dirty="0">
                <a:cs typeface="B Nazanin" panose="00000400000000000000" pitchFamily="2" charset="-78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(XAI)</a:t>
            </a:r>
            <a:r>
              <a:rPr lang="fa-IR" sz="2400" b="1" dirty="0">
                <a:cs typeface="+mj-cs"/>
              </a:rPr>
              <a:t> </a:t>
            </a:r>
            <a:r>
              <a:rPr lang="ar-SA" sz="2400" b="1" dirty="0">
                <a:cs typeface="B Nazanin" panose="00000400000000000000" pitchFamily="2" charset="-78"/>
              </a:rPr>
              <a:t>و کاربردهای صنعتی آن</a:t>
            </a:r>
            <a:endParaRPr lang="en-US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59207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42" grpId="0" animBg="1"/>
      <p:bldP spid="43" grpId="0" animBg="1"/>
      <p:bldP spid="31" grpId="0"/>
      <p:bldP spid="33" grpId="0"/>
      <p:bldP spid="44" grpId="0" animBg="1"/>
      <p:bldP spid="35" grpId="0"/>
      <p:bldP spid="45" grpId="0" animBg="1"/>
      <p:bldP spid="37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0510C-9985-BFC5-E5F1-E5A6AA54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5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31FAD6-4CDF-3283-5DA4-5D2A6F016A3F}"/>
              </a:ext>
            </a:extLst>
          </p:cNvPr>
          <p:cNvSpPr/>
          <p:nvPr/>
        </p:nvSpPr>
        <p:spPr>
          <a:xfrm>
            <a:off x="10022898" y="2294555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3425D-0D59-F77D-8F69-B0677502CD5D}"/>
              </a:ext>
            </a:extLst>
          </p:cNvPr>
          <p:cNvSpPr txBox="1"/>
          <p:nvPr/>
        </p:nvSpPr>
        <p:spPr>
          <a:xfrm>
            <a:off x="10022898" y="309402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مروری بر منابع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B809AEF-C0BC-13C3-2F7A-E9A857CED968}"/>
              </a:ext>
            </a:extLst>
          </p:cNvPr>
          <p:cNvSpPr/>
          <p:nvPr/>
        </p:nvSpPr>
        <p:spPr>
          <a:xfrm>
            <a:off x="-962526" y="2913479"/>
            <a:ext cx="4058653" cy="179671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8FA44B5-FB8D-DEED-6DBC-26162F889956}"/>
              </a:ext>
            </a:extLst>
          </p:cNvPr>
          <p:cNvSpPr/>
          <p:nvPr/>
        </p:nvSpPr>
        <p:spPr>
          <a:xfrm flipH="1" flipV="1">
            <a:off x="-519876" y="449177"/>
            <a:ext cx="6182735" cy="81814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0AFC1-488F-C612-1934-6DED0D7A029B}"/>
              </a:ext>
            </a:extLst>
          </p:cNvPr>
          <p:cNvSpPr txBox="1"/>
          <p:nvPr/>
        </p:nvSpPr>
        <p:spPr>
          <a:xfrm>
            <a:off x="-279244" y="627419"/>
            <a:ext cx="5919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400" b="1" dirty="0">
                <a:cs typeface="B Nazanin" panose="00000400000000000000" pitchFamily="2" charset="-78"/>
              </a:rPr>
              <a:t>هوش مصنوعی قابل‌تفسیر</a:t>
            </a:r>
            <a:r>
              <a:rPr lang="fa-IR" sz="2400" b="1" dirty="0">
                <a:cs typeface="B Nazanin" panose="00000400000000000000" pitchFamily="2" charset="-78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(XAI)</a:t>
            </a:r>
            <a:r>
              <a:rPr lang="fa-IR" sz="2400" b="1" dirty="0">
                <a:cs typeface="+mj-cs"/>
              </a:rPr>
              <a:t> </a:t>
            </a:r>
            <a:r>
              <a:rPr lang="ar-SA" sz="2400" b="1" dirty="0">
                <a:cs typeface="B Nazanin" panose="00000400000000000000" pitchFamily="2" charset="-78"/>
              </a:rPr>
              <a:t>و کاربردهای صنعتی آن</a:t>
            </a:r>
            <a:endParaRPr lang="en-US" sz="3200" b="1" dirty="0">
              <a:cs typeface="B Nazanin" panose="00000400000000000000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8465AD-A45A-3787-604C-77FC0DC23BE6}"/>
              </a:ext>
            </a:extLst>
          </p:cNvPr>
          <p:cNvSpPr txBox="1"/>
          <p:nvPr/>
        </p:nvSpPr>
        <p:spPr>
          <a:xfrm>
            <a:off x="1501914" y="3488671"/>
            <a:ext cx="1415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B4BED16-274B-8213-0C43-689FE5A13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94" y="3158194"/>
            <a:ext cx="1239811" cy="1239811"/>
          </a:xfrm>
          <a:prstGeom prst="rect">
            <a:avLst/>
          </a:prstGeom>
        </p:spPr>
      </p:pic>
      <p:sp>
        <p:nvSpPr>
          <p:cNvPr id="30" name="Double Bracket 29">
            <a:extLst>
              <a:ext uri="{FF2B5EF4-FFF2-40B4-BE49-F238E27FC236}">
                <a16:creationId xmlns:a16="http://schemas.microsoft.com/office/drawing/2014/main" id="{5721057B-8068-DFE2-FAAF-CDB8344CF2CC}"/>
              </a:ext>
            </a:extLst>
          </p:cNvPr>
          <p:cNvSpPr/>
          <p:nvPr/>
        </p:nvSpPr>
        <p:spPr>
          <a:xfrm>
            <a:off x="5990017" y="1255830"/>
            <a:ext cx="3494360" cy="910389"/>
          </a:xfrm>
          <a:prstGeom prst="bracketPair">
            <a:avLst/>
          </a:prstGeom>
          <a:ln w="57150">
            <a:solidFill>
              <a:schemeClr val="bg2">
                <a:lumMod val="50000"/>
              </a:schemeClr>
            </a:solidFill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18BC0A50-1E11-4BEF-276E-91D13A2F37D8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3096127" y="1711025"/>
            <a:ext cx="2893890" cy="2100812"/>
          </a:xfrm>
          <a:prstGeom prst="curvedConnector3">
            <a:avLst/>
          </a:prstGeom>
          <a:ln w="82550">
            <a:solidFill>
              <a:schemeClr val="bg2">
                <a:lumMod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ouble Bracket 33">
            <a:extLst>
              <a:ext uri="{FF2B5EF4-FFF2-40B4-BE49-F238E27FC236}">
                <a16:creationId xmlns:a16="http://schemas.microsoft.com/office/drawing/2014/main" id="{79B8969F-C272-3070-A517-30A29F9C3D27}"/>
              </a:ext>
            </a:extLst>
          </p:cNvPr>
          <p:cNvSpPr/>
          <p:nvPr/>
        </p:nvSpPr>
        <p:spPr>
          <a:xfrm>
            <a:off x="5990017" y="2656728"/>
            <a:ext cx="3494359" cy="910389"/>
          </a:xfrm>
          <a:prstGeom prst="bracketPair">
            <a:avLst/>
          </a:prstGeom>
          <a:ln w="57150">
            <a:solidFill>
              <a:schemeClr val="bg2">
                <a:lumMod val="50000"/>
              </a:schemeClr>
            </a:solidFill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BB8A1A09-131E-5F49-6777-A629FC70BE1A}"/>
              </a:ext>
            </a:extLst>
          </p:cNvPr>
          <p:cNvCxnSpPr>
            <a:cxnSpLocks/>
            <a:stCxn id="29" idx="3"/>
            <a:endCxn id="34" idx="1"/>
          </p:cNvCxnSpPr>
          <p:nvPr/>
        </p:nvCxnSpPr>
        <p:spPr>
          <a:xfrm flipV="1">
            <a:off x="3096127" y="3111923"/>
            <a:ext cx="2893890" cy="699914"/>
          </a:xfrm>
          <a:prstGeom prst="curvedConnector3">
            <a:avLst/>
          </a:prstGeom>
          <a:ln w="82550">
            <a:solidFill>
              <a:schemeClr val="bg2">
                <a:lumMod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ouble Bracket 35">
            <a:extLst>
              <a:ext uri="{FF2B5EF4-FFF2-40B4-BE49-F238E27FC236}">
                <a16:creationId xmlns:a16="http://schemas.microsoft.com/office/drawing/2014/main" id="{0D8F86C7-F973-E929-27F9-245BC21388CA}"/>
              </a:ext>
            </a:extLst>
          </p:cNvPr>
          <p:cNvSpPr/>
          <p:nvPr/>
        </p:nvSpPr>
        <p:spPr>
          <a:xfrm>
            <a:off x="5990017" y="4151889"/>
            <a:ext cx="3494358" cy="910389"/>
          </a:xfrm>
          <a:prstGeom prst="bracketPair">
            <a:avLst/>
          </a:prstGeom>
          <a:ln w="57150">
            <a:solidFill>
              <a:schemeClr val="bg2">
                <a:lumMod val="50000"/>
              </a:schemeClr>
            </a:solidFill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B5AF581C-B67D-A25F-8191-B8D826358365}"/>
              </a:ext>
            </a:extLst>
          </p:cNvPr>
          <p:cNvCxnSpPr>
            <a:cxnSpLocks/>
            <a:stCxn id="29" idx="3"/>
            <a:endCxn id="36" idx="1"/>
          </p:cNvCxnSpPr>
          <p:nvPr/>
        </p:nvCxnSpPr>
        <p:spPr>
          <a:xfrm>
            <a:off x="3096127" y="3811837"/>
            <a:ext cx="2893890" cy="795247"/>
          </a:xfrm>
          <a:prstGeom prst="curvedConnector3">
            <a:avLst/>
          </a:prstGeom>
          <a:ln w="82550">
            <a:solidFill>
              <a:schemeClr val="bg2">
                <a:lumMod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ouble Bracket 37">
            <a:extLst>
              <a:ext uri="{FF2B5EF4-FFF2-40B4-BE49-F238E27FC236}">
                <a16:creationId xmlns:a16="http://schemas.microsoft.com/office/drawing/2014/main" id="{848EF5FB-310E-86A4-6541-4B5FC621E054}"/>
              </a:ext>
            </a:extLst>
          </p:cNvPr>
          <p:cNvSpPr/>
          <p:nvPr/>
        </p:nvSpPr>
        <p:spPr>
          <a:xfrm>
            <a:off x="5990017" y="5647050"/>
            <a:ext cx="3494358" cy="910389"/>
          </a:xfrm>
          <a:prstGeom prst="bracketPair">
            <a:avLst/>
          </a:prstGeom>
          <a:ln w="57150">
            <a:solidFill>
              <a:schemeClr val="bg2">
                <a:lumMod val="50000"/>
              </a:schemeClr>
            </a:solidFill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6A875450-BDA7-FB19-37CE-6399B0E474EC}"/>
              </a:ext>
            </a:extLst>
          </p:cNvPr>
          <p:cNvCxnSpPr>
            <a:cxnSpLocks/>
            <a:stCxn id="29" idx="3"/>
            <a:endCxn id="38" idx="1"/>
          </p:cNvCxnSpPr>
          <p:nvPr/>
        </p:nvCxnSpPr>
        <p:spPr>
          <a:xfrm>
            <a:off x="3096127" y="3811837"/>
            <a:ext cx="2893890" cy="2290408"/>
          </a:xfrm>
          <a:prstGeom prst="curvedConnector3">
            <a:avLst/>
          </a:prstGeom>
          <a:ln w="82550">
            <a:solidFill>
              <a:schemeClr val="bg2">
                <a:lumMod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44F298A-3B4D-06AC-D13F-628FAC36D4D0}"/>
              </a:ext>
            </a:extLst>
          </p:cNvPr>
          <p:cNvSpPr txBox="1"/>
          <p:nvPr/>
        </p:nvSpPr>
        <p:spPr>
          <a:xfrm>
            <a:off x="5990017" y="1203156"/>
            <a:ext cx="34943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000" b="1" dirty="0">
                <a:cs typeface="B Nazanin" panose="00000400000000000000" pitchFamily="2" charset="-78"/>
              </a:rPr>
              <a:t>ایجان شفافیت </a:t>
            </a:r>
            <a:r>
              <a:rPr lang="ar-SA" sz="2000" b="1" dirty="0">
                <a:cs typeface="B Nazanin" panose="00000400000000000000" pitchFamily="2" charset="-78"/>
              </a:rPr>
              <a:t>برای مدل‌های جعبه‌سیاه </a:t>
            </a:r>
            <a:r>
              <a:rPr lang="fa-IR" sz="2000" b="1" dirty="0">
                <a:cs typeface="B Nazanin" panose="00000400000000000000" pitchFamily="2" charset="-78"/>
              </a:rPr>
              <a:t> در </a:t>
            </a:r>
            <a:r>
              <a:rPr lang="ar-SA" sz="2000" b="1" dirty="0">
                <a:cs typeface="B Nazanin" panose="00000400000000000000" pitchFamily="2" charset="-78"/>
              </a:rPr>
              <a:t>تشخیص و عیب‌یابی خطا در سیستم‌های صنعتی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613C91-4DAF-EB02-7DB8-7B47CADC9891}"/>
              </a:ext>
            </a:extLst>
          </p:cNvPr>
          <p:cNvSpPr txBox="1"/>
          <p:nvPr/>
        </p:nvSpPr>
        <p:spPr>
          <a:xfrm>
            <a:off x="5990017" y="2586194"/>
            <a:ext cx="34943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000" b="1" dirty="0">
                <a:cs typeface="B Nazanin" panose="00000400000000000000" pitchFamily="2" charset="-78"/>
              </a:rPr>
              <a:t>شفاف سازی </a:t>
            </a:r>
            <a:r>
              <a:rPr lang="ar-SA" sz="2000" b="1" dirty="0">
                <a:cs typeface="B Nazanin" panose="00000400000000000000" pitchFamily="2" charset="-78"/>
              </a:rPr>
              <a:t>روابط پنهان و میزان اهمیت متغیرهای فرآیند تولید مونومر استایرن</a:t>
            </a:r>
            <a:r>
              <a:rPr lang="fa-IR" sz="2000" b="1" dirty="0">
                <a:cs typeface="B Nazanin" panose="00000400000000000000" pitchFamily="2" charset="-78"/>
              </a:rPr>
              <a:t> </a:t>
            </a:r>
            <a:r>
              <a:rPr lang="ar-SA" sz="2000" b="1" dirty="0">
                <a:cs typeface="B Nazanin" panose="00000400000000000000" pitchFamily="2" charset="-78"/>
              </a:rPr>
              <a:t>با بهره‌وری انرژی 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23C26D-F679-3714-D80E-E09BE4F55BF1}"/>
              </a:ext>
            </a:extLst>
          </p:cNvPr>
          <p:cNvSpPr txBox="1"/>
          <p:nvPr/>
        </p:nvSpPr>
        <p:spPr>
          <a:xfrm>
            <a:off x="5990017" y="4111403"/>
            <a:ext cx="34943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000" b="1" dirty="0">
                <a:cs typeface="B Nazanin" panose="00000400000000000000" pitchFamily="2" charset="-78"/>
              </a:rPr>
              <a:t>کمک به</a:t>
            </a:r>
            <a:r>
              <a:rPr lang="ar-SA" sz="2000" b="1" dirty="0">
                <a:cs typeface="B Nazanin" panose="00000400000000000000" pitchFamily="2" charset="-78"/>
              </a:rPr>
              <a:t> اپراتورها و مهندسان</a:t>
            </a:r>
            <a:r>
              <a:rPr lang="fa-IR" sz="2000" b="1" dirty="0">
                <a:cs typeface="B Nazanin" panose="00000400000000000000" pitchFamily="2" charset="-78"/>
              </a:rPr>
              <a:t> در فهمیدن روابط غیر خطی با </a:t>
            </a:r>
            <a:r>
              <a:rPr lang="ar-SA" sz="2000" b="1" dirty="0">
                <a:cs typeface="B Nazanin" panose="00000400000000000000" pitchFamily="2" charset="-78"/>
              </a:rPr>
              <a:t>ترکیب روش‌های تفسیرپذیر با محدودیت‌های فیزیکی 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F2343D-56B2-CAA6-7393-507EAA8F588B}"/>
              </a:ext>
            </a:extLst>
          </p:cNvPr>
          <p:cNvSpPr txBox="1"/>
          <p:nvPr/>
        </p:nvSpPr>
        <p:spPr>
          <a:xfrm>
            <a:off x="5990016" y="5596116"/>
            <a:ext cx="349435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000" b="1" dirty="0">
                <a:cs typeface="B Nazanin" panose="00000400000000000000" pitchFamily="2" charset="-78"/>
              </a:rPr>
              <a:t>یافتن متغیر های تاثیرگذار بر میزان درصد تبدیل در راکتور </a:t>
            </a:r>
            <a:r>
              <a:rPr lang="ar-SA" b="1" dirty="0">
                <a:cs typeface="B Nazanin" panose="00000400000000000000" pitchFamily="2" charset="-78"/>
              </a:rPr>
              <a:t>تولید دی‌متیل اتر</a:t>
            </a:r>
            <a:r>
              <a:rPr lang="fa-IR" b="1" dirty="0">
                <a:cs typeface="B Nazanin" panose="00000400000000000000" pitchFamily="2" charset="-78"/>
              </a:rPr>
              <a:t>، </a:t>
            </a:r>
            <a:r>
              <a:rPr lang="ar-SA" b="1" dirty="0">
                <a:cs typeface="B Nazanin" panose="00000400000000000000" pitchFamily="2" charset="-78"/>
              </a:rPr>
              <a:t>مانند طول راکتور، دمای اولیه و کسر مولی خوراک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FEED247-D185-A576-BBE1-AC4DAC870AE1}"/>
              </a:ext>
            </a:extLst>
          </p:cNvPr>
          <p:cNvSpPr/>
          <p:nvPr/>
        </p:nvSpPr>
        <p:spPr>
          <a:xfrm flipH="1" flipV="1">
            <a:off x="-6978312" y="449176"/>
            <a:ext cx="6673513" cy="8181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142BFF-718E-9CCE-64AE-88509B04F024}"/>
              </a:ext>
            </a:extLst>
          </p:cNvPr>
          <p:cNvSpPr txBox="1"/>
          <p:nvPr/>
        </p:nvSpPr>
        <p:spPr>
          <a:xfrm>
            <a:off x="-6737679" y="627419"/>
            <a:ext cx="6432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2400" b="1" dirty="0">
                <a:cs typeface="B Nazanin" panose="00000400000000000000" pitchFamily="2" charset="-78"/>
              </a:rPr>
              <a:t>مقالات </a:t>
            </a:r>
            <a:r>
              <a:rPr lang="ar-SA" sz="2400" b="1" dirty="0">
                <a:cs typeface="B Nazanin" panose="00000400000000000000" pitchFamily="2" charset="-78"/>
              </a:rPr>
              <a:t>حوزه پلتفرم‌های نرم‌افزاری و خدمات هوش مصنوعی صنعتی</a:t>
            </a:r>
            <a:endParaRPr lang="en-US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08169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3" grpId="0"/>
      <p:bldP spid="30" grpId="0" animBg="1"/>
      <p:bldP spid="34" grpId="0" animBg="1"/>
      <p:bldP spid="36" grpId="0" animBg="1"/>
      <p:bldP spid="38" grpId="0" animBg="1"/>
      <p:bldP spid="44" grpId="0"/>
      <p:bldP spid="50" grpId="0"/>
      <p:bldP spid="52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3146D-B321-A5CA-952F-BD9C1ED47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6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43237B-88B9-0C61-2E67-9BDD4ABA11BC}"/>
              </a:ext>
            </a:extLst>
          </p:cNvPr>
          <p:cNvSpPr/>
          <p:nvPr/>
        </p:nvSpPr>
        <p:spPr>
          <a:xfrm flipH="1" flipV="1">
            <a:off x="-112292" y="449176"/>
            <a:ext cx="6673513" cy="8181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5F3923-EE25-CE23-930A-81763A0A47CD}"/>
              </a:ext>
            </a:extLst>
          </p:cNvPr>
          <p:cNvSpPr/>
          <p:nvPr/>
        </p:nvSpPr>
        <p:spPr>
          <a:xfrm>
            <a:off x="-1363579" y="1427749"/>
            <a:ext cx="6492190" cy="14596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AE48668-CDD1-0145-A96E-335D1BE776B8}"/>
              </a:ext>
            </a:extLst>
          </p:cNvPr>
          <p:cNvSpPr/>
          <p:nvPr/>
        </p:nvSpPr>
        <p:spPr>
          <a:xfrm>
            <a:off x="5118730" y="2964353"/>
            <a:ext cx="7073269" cy="14596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92CCE-5C7F-A06B-ECD6-96A788C5935F}"/>
              </a:ext>
            </a:extLst>
          </p:cNvPr>
          <p:cNvSpPr txBox="1"/>
          <p:nvPr/>
        </p:nvSpPr>
        <p:spPr>
          <a:xfrm>
            <a:off x="128341" y="627419"/>
            <a:ext cx="6432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2400" b="1" dirty="0">
                <a:cs typeface="B Nazanin" panose="00000400000000000000" pitchFamily="2" charset="-78"/>
              </a:rPr>
              <a:t>مقالات </a:t>
            </a:r>
            <a:r>
              <a:rPr lang="ar-SA" sz="2400" b="1" dirty="0">
                <a:cs typeface="B Nazanin" panose="00000400000000000000" pitchFamily="2" charset="-78"/>
              </a:rPr>
              <a:t>حوزه پلتفرم‌های نرم‌افزاری و خدمات هوش مصنوعی صنعتی</a:t>
            </a:r>
            <a:endParaRPr lang="en-US" sz="3200" b="1" dirty="0">
              <a:cs typeface="B Nazanin" panose="000004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A98624-9A50-B5E2-B72B-0EEE4C5C6D74}"/>
              </a:ext>
            </a:extLst>
          </p:cNvPr>
          <p:cNvSpPr/>
          <p:nvPr/>
        </p:nvSpPr>
        <p:spPr>
          <a:xfrm>
            <a:off x="10022898" y="2294555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8E3B34-8CA4-C91B-5A14-175A91E374F0}"/>
              </a:ext>
            </a:extLst>
          </p:cNvPr>
          <p:cNvSpPr txBox="1"/>
          <p:nvPr/>
        </p:nvSpPr>
        <p:spPr>
          <a:xfrm>
            <a:off x="10022898" y="309402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مروری بر منابع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C4E828-097B-EEF6-BE70-AA451174DB54}"/>
              </a:ext>
            </a:extLst>
          </p:cNvPr>
          <p:cNvSpPr txBox="1"/>
          <p:nvPr/>
        </p:nvSpPr>
        <p:spPr>
          <a:xfrm>
            <a:off x="508485" y="1504280"/>
            <a:ext cx="46201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000" b="1" dirty="0">
                <a:cs typeface="B Nazanin" panose="00000400000000000000" pitchFamily="2" charset="-78"/>
              </a:rPr>
              <a:t>توسعه یک پلتفرم نرم‌افزاری با رابط گرافیکی مه‌داده با هدف پایش بلادرنگ فرآیند‌ها، تشخیص عیوب و مسورسازی آماری با استفاده از الگوریتم‌های یادگیری ماشین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E8B910-FD54-2197-1F07-5D4F25C01B1A}"/>
              </a:ext>
            </a:extLst>
          </p:cNvPr>
          <p:cNvSpPr txBox="1"/>
          <p:nvPr/>
        </p:nvSpPr>
        <p:spPr>
          <a:xfrm>
            <a:off x="5285315" y="3029858"/>
            <a:ext cx="46201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000" b="1" dirty="0">
                <a:cs typeface="B Nazanin" panose="00000400000000000000" pitchFamily="2" charset="-78"/>
              </a:rPr>
              <a:t>توسعه یک بسته نرم‌افزاری خودکار </a:t>
            </a:r>
            <a:r>
              <a:rPr lang="en-US" sz="2000" b="1" dirty="0" err="1">
                <a:cs typeface="B Nazanin" panose="00000400000000000000" pitchFamily="2" charset="-78"/>
              </a:rPr>
              <a:t>حسگرهای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نرم</a:t>
            </a:r>
            <a:r>
              <a:rPr lang="en-US" sz="2000" b="1" dirty="0">
                <a:cs typeface="B Nazanin" panose="00000400000000000000" pitchFamily="2" charset="-78"/>
              </a:rPr>
              <a:t>‌ </a:t>
            </a:r>
            <a:r>
              <a:rPr lang="en-US" sz="2000" b="1" dirty="0" err="1">
                <a:cs typeface="B Nazanin" panose="00000400000000000000" pitchFamily="2" charset="-78"/>
              </a:rPr>
              <a:t>صنعتی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مبتنی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بر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یادگیری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ماشین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با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قابلیت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پیش‌پردازش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داده‌ها</a:t>
            </a:r>
            <a:r>
              <a:rPr lang="en-US" sz="2000" b="1" dirty="0">
                <a:cs typeface="B Nazanin" panose="00000400000000000000" pitchFamily="2" charset="-78"/>
              </a:rPr>
              <a:t>، </a:t>
            </a:r>
            <a:r>
              <a:rPr lang="en-US" sz="2000" b="1" dirty="0" err="1">
                <a:cs typeface="B Nazanin" panose="00000400000000000000" pitchFamily="2" charset="-78"/>
              </a:rPr>
              <a:t>انتخاب</a:t>
            </a:r>
            <a:r>
              <a:rPr lang="en-US" sz="2000" b="1" dirty="0">
                <a:cs typeface="B Nazanin" panose="00000400000000000000" pitchFamily="2" charset="-78"/>
              </a:rPr>
              <a:t> و </a:t>
            </a:r>
            <a:r>
              <a:rPr lang="en-US" sz="2000" b="1" dirty="0" err="1">
                <a:cs typeface="B Nazanin" panose="00000400000000000000" pitchFamily="2" charset="-78"/>
              </a:rPr>
              <a:t>آموزش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مدل‌ها</a:t>
            </a:r>
            <a:r>
              <a:rPr lang="en-US" sz="2000" b="1" dirty="0">
                <a:cs typeface="B Nazanin" panose="00000400000000000000" pitchFamily="2" charset="-78"/>
              </a:rPr>
              <a:t>، </a:t>
            </a:r>
            <a:r>
              <a:rPr lang="en-US" sz="2000" b="1" dirty="0" err="1">
                <a:cs typeface="B Nazanin" panose="00000400000000000000" pitchFamily="2" charset="-78"/>
              </a:rPr>
              <a:t>ارزیابی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عملکرد</a:t>
            </a:r>
            <a:r>
              <a:rPr lang="en-US" sz="2000" b="1" dirty="0">
                <a:cs typeface="B Nazanin" panose="00000400000000000000" pitchFamily="2" charset="-78"/>
              </a:rPr>
              <a:t> و </a:t>
            </a:r>
            <a:r>
              <a:rPr lang="en-US" sz="2000" b="1" dirty="0" err="1">
                <a:cs typeface="B Nazanin" panose="00000400000000000000" pitchFamily="2" charset="-78"/>
              </a:rPr>
              <a:t>تفسیرپذیری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نتایج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پیش‌بینی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D3A0508-B5C0-9D87-2A8E-7561CBC0B1D9}"/>
              </a:ext>
            </a:extLst>
          </p:cNvPr>
          <p:cNvSpPr/>
          <p:nvPr/>
        </p:nvSpPr>
        <p:spPr>
          <a:xfrm>
            <a:off x="-1954539" y="4568528"/>
            <a:ext cx="7073269" cy="172508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BAA161-7555-3469-BBEC-3C97B521DC22}"/>
              </a:ext>
            </a:extLst>
          </p:cNvPr>
          <p:cNvSpPr txBox="1"/>
          <p:nvPr/>
        </p:nvSpPr>
        <p:spPr>
          <a:xfrm>
            <a:off x="466520" y="4583544"/>
            <a:ext cx="46201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cs typeface="B Nazanin" panose="00000400000000000000" pitchFamily="2" charset="-78"/>
              </a:rPr>
              <a:t>طراحی</a:t>
            </a:r>
            <a:r>
              <a:rPr lang="en-US" sz="2000" b="1" dirty="0">
                <a:cs typeface="B Nazanin" panose="00000400000000000000" pitchFamily="2" charset="-78"/>
              </a:rPr>
              <a:t> و </a:t>
            </a:r>
            <a:r>
              <a:rPr lang="en-US" sz="2000" b="1" dirty="0" err="1">
                <a:cs typeface="B Nazanin" panose="00000400000000000000" pitchFamily="2" charset="-78"/>
              </a:rPr>
              <a:t>پیاده‌سازی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معماری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ماژولار</a:t>
            </a:r>
            <a:r>
              <a:rPr lang="en-US" sz="2000" b="1" dirty="0">
                <a:cs typeface="B Nazanin" panose="00000400000000000000" pitchFamily="2" charset="-78"/>
              </a:rPr>
              <a:t> و </a:t>
            </a:r>
            <a:r>
              <a:rPr lang="en-US" sz="2000" b="1" dirty="0" err="1">
                <a:cs typeface="B Nazanin" panose="00000400000000000000" pitchFamily="2" charset="-78"/>
              </a:rPr>
              <a:t>مقیاس‌پذیر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برای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جمع‌آوری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بلادرنگ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داده‌های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صنعتی</a:t>
            </a:r>
            <a:r>
              <a:rPr lang="fa-IR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>
                <a:cs typeface="B Nazanin" panose="00000400000000000000" pitchFamily="2" charset="-78"/>
              </a:rPr>
              <a:t>و </a:t>
            </a:r>
            <a:r>
              <a:rPr lang="en-US" sz="2000" b="1" dirty="0" err="1">
                <a:cs typeface="B Nazanin" panose="00000400000000000000" pitchFamily="2" charset="-78"/>
              </a:rPr>
              <a:t>ارائه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بصری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اطلاعات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از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طریق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رابط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کاربری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گرافیک</a:t>
            </a:r>
            <a:r>
              <a:rPr lang="fa-IR" sz="2000" b="1" dirty="0">
                <a:cs typeface="B Nazanin" panose="00000400000000000000" pitchFamily="2" charset="-78"/>
              </a:rPr>
              <a:t>ی </a:t>
            </a:r>
            <a:r>
              <a:rPr lang="en-US" sz="2000" b="1" dirty="0" err="1">
                <a:cs typeface="B Nazanin" panose="00000400000000000000" pitchFamily="2" charset="-78"/>
              </a:rPr>
              <a:t>مبتنی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بر</a:t>
            </a:r>
            <a:r>
              <a:rPr lang="fa-IR" sz="2000" b="1" dirty="0">
                <a:cs typeface="B Nazanin" panose="00000400000000000000" pitchFamily="2" charset="-78"/>
              </a:rPr>
              <a:t> پیش‌بینی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یادگیری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ماشین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با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هدف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تسهیل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تعامل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مهندسان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فرایند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با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سیستم‌های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fa-IR" sz="2000" b="1" dirty="0">
                <a:cs typeface="B Nazanin" panose="00000400000000000000" pitchFamily="2" charset="-78"/>
              </a:rPr>
              <a:t>کنترل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lang="en-US" sz="2000" b="1" dirty="0" err="1">
                <a:cs typeface="B Nazanin" panose="00000400000000000000" pitchFamily="2" charset="-78"/>
              </a:rPr>
              <a:t>صنعتی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98ABAE-E89B-541C-1FE4-ABEC53D8D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0" t="11342" r="22278" b="17088"/>
          <a:stretch>
            <a:fillRect/>
          </a:stretch>
        </p:blipFill>
        <p:spPr>
          <a:xfrm>
            <a:off x="6287947" y="1366158"/>
            <a:ext cx="1941095" cy="15888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FFCBEA-2980-37AF-25D9-42F3AD8C9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221" y="4750464"/>
            <a:ext cx="1687682" cy="16876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05AB52-8F6C-A335-82C4-AC300BCC5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618" y="3341672"/>
            <a:ext cx="1172782" cy="1172782"/>
          </a:xfrm>
          <a:prstGeom prst="rect">
            <a:avLst/>
          </a:prstGeom>
        </p:spPr>
      </p:pic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71620B66-0DBE-7FBD-1451-B801BD3DE17C}"/>
              </a:ext>
            </a:extLst>
          </p:cNvPr>
          <p:cNvCxnSpPr>
            <a:cxnSpLocks/>
            <a:stCxn id="17" idx="1"/>
            <a:endCxn id="20" idx="3"/>
          </p:cNvCxnSpPr>
          <p:nvPr/>
        </p:nvCxnSpPr>
        <p:spPr>
          <a:xfrm rot="10800000" flipV="1">
            <a:off x="3581401" y="2160581"/>
            <a:ext cx="2706547" cy="1767481"/>
          </a:xfrm>
          <a:prstGeom prst="curvedConnector3">
            <a:avLst>
              <a:gd name="adj1" fmla="val 44666"/>
            </a:avLst>
          </a:prstGeom>
          <a:ln w="50800">
            <a:solidFill>
              <a:schemeClr val="accent2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3979405E-62BD-46B6-84EB-1C1128FA97F7}"/>
              </a:ext>
            </a:extLst>
          </p:cNvPr>
          <p:cNvCxnSpPr>
            <a:cxnSpLocks/>
            <a:stCxn id="19" idx="1"/>
            <a:endCxn id="20" idx="3"/>
          </p:cNvCxnSpPr>
          <p:nvPr/>
        </p:nvCxnSpPr>
        <p:spPr>
          <a:xfrm rot="10800000">
            <a:off x="3581401" y="3928063"/>
            <a:ext cx="2979821" cy="1666242"/>
          </a:xfrm>
          <a:prstGeom prst="curvedConnector3">
            <a:avLst>
              <a:gd name="adj1" fmla="val 43001"/>
            </a:avLst>
          </a:prstGeom>
          <a:ln w="50800">
            <a:solidFill>
              <a:schemeClr val="accent2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5E17DEE-3DAE-0DDA-714D-03EC54112BAB}"/>
              </a:ext>
            </a:extLst>
          </p:cNvPr>
          <p:cNvSpPr/>
          <p:nvPr/>
        </p:nvSpPr>
        <p:spPr>
          <a:xfrm rot="19083424">
            <a:off x="11107448" y="5038509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1B20ED-4B62-5636-95A9-03666D36D7F5}"/>
              </a:ext>
            </a:extLst>
          </p:cNvPr>
          <p:cNvSpPr txBox="1"/>
          <p:nvPr/>
        </p:nvSpPr>
        <p:spPr>
          <a:xfrm>
            <a:off x="12044202" y="82478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4AC31E6-786B-6778-3C5A-6E6082070244}"/>
              </a:ext>
            </a:extLst>
          </p:cNvPr>
          <p:cNvSpPr/>
          <p:nvPr/>
        </p:nvSpPr>
        <p:spPr>
          <a:xfrm>
            <a:off x="8692723" y="-3033672"/>
            <a:ext cx="3851023" cy="2518365"/>
          </a:xfrm>
          <a:custGeom>
            <a:avLst/>
            <a:gdLst>
              <a:gd name="csX0" fmla="*/ 0 w 3851023"/>
              <a:gd name="csY0" fmla="*/ 419736 h 2518365"/>
              <a:gd name="csX1" fmla="*/ 419736 w 3851023"/>
              <a:gd name="csY1" fmla="*/ 0 h 2518365"/>
              <a:gd name="csX2" fmla="*/ 3431287 w 3851023"/>
              <a:gd name="csY2" fmla="*/ 0 h 2518365"/>
              <a:gd name="csX3" fmla="*/ 3851023 w 3851023"/>
              <a:gd name="csY3" fmla="*/ 419736 h 2518365"/>
              <a:gd name="csX4" fmla="*/ 3851023 w 3851023"/>
              <a:gd name="csY4" fmla="*/ 2098629 h 2518365"/>
              <a:gd name="csX5" fmla="*/ 3431287 w 3851023"/>
              <a:gd name="csY5" fmla="*/ 2518365 h 2518365"/>
              <a:gd name="csX6" fmla="*/ 419736 w 3851023"/>
              <a:gd name="csY6" fmla="*/ 2518365 h 2518365"/>
              <a:gd name="csX7" fmla="*/ 0 w 3851023"/>
              <a:gd name="csY7" fmla="*/ 2098629 h 2518365"/>
              <a:gd name="csX8" fmla="*/ 0 w 3851023"/>
              <a:gd name="csY8" fmla="*/ 419736 h 2518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51023" h="2518365" fill="none" extrusionOk="0">
                <a:moveTo>
                  <a:pt x="0" y="419736"/>
                </a:moveTo>
                <a:cubicBezTo>
                  <a:pt x="781" y="209050"/>
                  <a:pt x="199846" y="20012"/>
                  <a:pt x="419736" y="0"/>
                </a:cubicBezTo>
                <a:cubicBezTo>
                  <a:pt x="871326" y="72427"/>
                  <a:pt x="3075897" y="61419"/>
                  <a:pt x="3431287" y="0"/>
                </a:cubicBezTo>
                <a:cubicBezTo>
                  <a:pt x="3658202" y="-33721"/>
                  <a:pt x="3842435" y="185324"/>
                  <a:pt x="3851023" y="419736"/>
                </a:cubicBezTo>
                <a:cubicBezTo>
                  <a:pt x="3945182" y="675140"/>
                  <a:pt x="3762806" y="1929029"/>
                  <a:pt x="3851023" y="2098629"/>
                </a:cubicBezTo>
                <a:cubicBezTo>
                  <a:pt x="3856238" y="2303977"/>
                  <a:pt x="3649716" y="2503360"/>
                  <a:pt x="3431287" y="2518365"/>
                </a:cubicBezTo>
                <a:cubicBezTo>
                  <a:pt x="2383807" y="2548192"/>
                  <a:pt x="823904" y="2439059"/>
                  <a:pt x="419736" y="2518365"/>
                </a:cubicBezTo>
                <a:cubicBezTo>
                  <a:pt x="211108" y="2515744"/>
                  <a:pt x="-43395" y="2339024"/>
                  <a:pt x="0" y="2098629"/>
                </a:cubicBezTo>
                <a:cubicBezTo>
                  <a:pt x="122010" y="1795210"/>
                  <a:pt x="25663" y="796237"/>
                  <a:pt x="0" y="419736"/>
                </a:cubicBezTo>
                <a:close/>
              </a:path>
              <a:path w="3851023" h="2518365" stroke="0" extrusionOk="0">
                <a:moveTo>
                  <a:pt x="0" y="419736"/>
                </a:moveTo>
                <a:cubicBezTo>
                  <a:pt x="26999" y="195281"/>
                  <a:pt x="191274" y="6983"/>
                  <a:pt x="419736" y="0"/>
                </a:cubicBezTo>
                <a:cubicBezTo>
                  <a:pt x="1518586" y="123000"/>
                  <a:pt x="2238578" y="-96860"/>
                  <a:pt x="3431287" y="0"/>
                </a:cubicBezTo>
                <a:cubicBezTo>
                  <a:pt x="3650788" y="-9384"/>
                  <a:pt x="3858228" y="173396"/>
                  <a:pt x="3851023" y="419736"/>
                </a:cubicBezTo>
                <a:cubicBezTo>
                  <a:pt x="3765890" y="603450"/>
                  <a:pt x="3950754" y="1523425"/>
                  <a:pt x="3851023" y="2098629"/>
                </a:cubicBezTo>
                <a:cubicBezTo>
                  <a:pt x="3811075" y="2344915"/>
                  <a:pt x="3648320" y="2515946"/>
                  <a:pt x="3431287" y="2518365"/>
                </a:cubicBezTo>
                <a:cubicBezTo>
                  <a:pt x="2440342" y="2357658"/>
                  <a:pt x="1272412" y="2558032"/>
                  <a:pt x="419736" y="2518365"/>
                </a:cubicBezTo>
                <a:cubicBezTo>
                  <a:pt x="177683" y="2516297"/>
                  <a:pt x="-29267" y="2317184"/>
                  <a:pt x="0" y="2098629"/>
                </a:cubicBezTo>
                <a:cubicBezTo>
                  <a:pt x="-79595" y="1871309"/>
                  <a:pt x="-115894" y="1249789"/>
                  <a:pt x="0" y="419736"/>
                </a:cubicBezTo>
                <a:close/>
              </a:path>
            </a:pathLst>
          </a:cu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06400">
              <a:schemeClr val="accent4">
                <a:satMod val="175000"/>
                <a:alpha val="22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3ED90FD-2FE4-BC51-D188-3BA11325D79A}"/>
              </a:ext>
            </a:extLst>
          </p:cNvPr>
          <p:cNvSpPr/>
          <p:nvPr/>
        </p:nvSpPr>
        <p:spPr>
          <a:xfrm>
            <a:off x="-5921531" y="-2752506"/>
            <a:ext cx="4557952" cy="2944365"/>
          </a:xfrm>
          <a:custGeom>
            <a:avLst/>
            <a:gdLst>
              <a:gd name="csX0" fmla="*/ 0 w 4557952"/>
              <a:gd name="csY0" fmla="*/ 490737 h 2944365"/>
              <a:gd name="csX1" fmla="*/ 490737 w 4557952"/>
              <a:gd name="csY1" fmla="*/ 0 h 2944365"/>
              <a:gd name="csX2" fmla="*/ 4067215 w 4557952"/>
              <a:gd name="csY2" fmla="*/ 0 h 2944365"/>
              <a:gd name="csX3" fmla="*/ 4557952 w 4557952"/>
              <a:gd name="csY3" fmla="*/ 490737 h 2944365"/>
              <a:gd name="csX4" fmla="*/ 4557952 w 4557952"/>
              <a:gd name="csY4" fmla="*/ 2453628 h 2944365"/>
              <a:gd name="csX5" fmla="*/ 4067215 w 4557952"/>
              <a:gd name="csY5" fmla="*/ 2944365 h 2944365"/>
              <a:gd name="csX6" fmla="*/ 490737 w 4557952"/>
              <a:gd name="csY6" fmla="*/ 2944365 h 2944365"/>
              <a:gd name="csX7" fmla="*/ 0 w 4557952"/>
              <a:gd name="csY7" fmla="*/ 2453628 h 2944365"/>
              <a:gd name="csX8" fmla="*/ 0 w 4557952"/>
              <a:gd name="csY8" fmla="*/ 490737 h 2944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557952" h="2944365" fill="none" extrusionOk="0">
                <a:moveTo>
                  <a:pt x="0" y="490737"/>
                </a:moveTo>
                <a:cubicBezTo>
                  <a:pt x="1853" y="269870"/>
                  <a:pt x="243623" y="40134"/>
                  <a:pt x="490737" y="0"/>
                </a:cubicBezTo>
                <a:cubicBezTo>
                  <a:pt x="1796232" y="72427"/>
                  <a:pt x="2335577" y="61419"/>
                  <a:pt x="4067215" y="0"/>
                </a:cubicBezTo>
                <a:cubicBezTo>
                  <a:pt x="4331197" y="-48495"/>
                  <a:pt x="4531025" y="211565"/>
                  <a:pt x="4557952" y="490737"/>
                </a:cubicBezTo>
                <a:cubicBezTo>
                  <a:pt x="4658828" y="1470655"/>
                  <a:pt x="4450639" y="1972290"/>
                  <a:pt x="4557952" y="2453628"/>
                </a:cubicBezTo>
                <a:cubicBezTo>
                  <a:pt x="4564400" y="2691928"/>
                  <a:pt x="4326864" y="2931610"/>
                  <a:pt x="4067215" y="2944365"/>
                </a:cubicBezTo>
                <a:cubicBezTo>
                  <a:pt x="2341352" y="2974192"/>
                  <a:pt x="1087903" y="2865059"/>
                  <a:pt x="490737" y="2944365"/>
                </a:cubicBezTo>
                <a:cubicBezTo>
                  <a:pt x="227513" y="2943483"/>
                  <a:pt x="-18039" y="2728222"/>
                  <a:pt x="0" y="2453628"/>
                </a:cubicBezTo>
                <a:cubicBezTo>
                  <a:pt x="50037" y="1640586"/>
                  <a:pt x="770" y="1049907"/>
                  <a:pt x="0" y="490737"/>
                </a:cubicBezTo>
                <a:close/>
              </a:path>
              <a:path w="4557952" h="2944365" stroke="0" extrusionOk="0">
                <a:moveTo>
                  <a:pt x="0" y="490737"/>
                </a:moveTo>
                <a:cubicBezTo>
                  <a:pt x="44228" y="231766"/>
                  <a:pt x="226013" y="13132"/>
                  <a:pt x="490737" y="0"/>
                </a:cubicBezTo>
                <a:cubicBezTo>
                  <a:pt x="2245887" y="123000"/>
                  <a:pt x="3247304" y="-96860"/>
                  <a:pt x="4067215" y="0"/>
                </a:cubicBezTo>
                <a:cubicBezTo>
                  <a:pt x="4298545" y="-30255"/>
                  <a:pt x="4560286" y="215004"/>
                  <a:pt x="4557952" y="490737"/>
                </a:cubicBezTo>
                <a:cubicBezTo>
                  <a:pt x="4561125" y="716448"/>
                  <a:pt x="4652219" y="2201288"/>
                  <a:pt x="4557952" y="2453628"/>
                </a:cubicBezTo>
                <a:cubicBezTo>
                  <a:pt x="4517880" y="2739172"/>
                  <a:pt x="4333363" y="2943566"/>
                  <a:pt x="4067215" y="2944365"/>
                </a:cubicBezTo>
                <a:cubicBezTo>
                  <a:pt x="2912277" y="2783658"/>
                  <a:pt x="1630883" y="2984032"/>
                  <a:pt x="490737" y="2944365"/>
                </a:cubicBezTo>
                <a:cubicBezTo>
                  <a:pt x="167357" y="2933791"/>
                  <a:pt x="-8461" y="2720822"/>
                  <a:pt x="0" y="2453628"/>
                </a:cubicBezTo>
                <a:cubicBezTo>
                  <a:pt x="32216" y="2184680"/>
                  <a:pt x="57206" y="1432279"/>
                  <a:pt x="0" y="490737"/>
                </a:cubicBezTo>
                <a:close/>
              </a:path>
            </a:pathLst>
          </a:cu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06400">
              <a:schemeClr val="accent4">
                <a:satMod val="175000"/>
                <a:alpha val="22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F02566F-F665-A64F-DEDF-764DD2D0F0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7825" y="-2632400"/>
            <a:ext cx="1952375" cy="195237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CB5295E-F6A8-60A9-02D1-A4763D36F8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17454" y="-2676826"/>
            <a:ext cx="1989562" cy="1989562"/>
          </a:xfrm>
          <a:prstGeom prst="rect">
            <a:avLst/>
          </a:prstGeom>
        </p:spPr>
      </p:pic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8218897-1C8A-3589-F9B6-C7C76E7833B4}"/>
              </a:ext>
            </a:extLst>
          </p:cNvPr>
          <p:cNvSpPr/>
          <p:nvPr/>
        </p:nvSpPr>
        <p:spPr>
          <a:xfrm>
            <a:off x="3033940" y="7789408"/>
            <a:ext cx="4944124" cy="2209495"/>
          </a:xfrm>
          <a:custGeom>
            <a:avLst/>
            <a:gdLst>
              <a:gd name="csX0" fmla="*/ 0 w 4944124"/>
              <a:gd name="csY0" fmla="*/ 368257 h 2209495"/>
              <a:gd name="csX1" fmla="*/ 368257 w 4944124"/>
              <a:gd name="csY1" fmla="*/ 0 h 2209495"/>
              <a:gd name="csX2" fmla="*/ 4575867 w 4944124"/>
              <a:gd name="csY2" fmla="*/ 0 h 2209495"/>
              <a:gd name="csX3" fmla="*/ 4944124 w 4944124"/>
              <a:gd name="csY3" fmla="*/ 368257 h 2209495"/>
              <a:gd name="csX4" fmla="*/ 4944124 w 4944124"/>
              <a:gd name="csY4" fmla="*/ 1841238 h 2209495"/>
              <a:gd name="csX5" fmla="*/ 4575867 w 4944124"/>
              <a:gd name="csY5" fmla="*/ 2209495 h 2209495"/>
              <a:gd name="csX6" fmla="*/ 368257 w 4944124"/>
              <a:gd name="csY6" fmla="*/ 2209495 h 2209495"/>
              <a:gd name="csX7" fmla="*/ 0 w 4944124"/>
              <a:gd name="csY7" fmla="*/ 1841238 h 2209495"/>
              <a:gd name="csX8" fmla="*/ 0 w 4944124"/>
              <a:gd name="csY8" fmla="*/ 368257 h 2209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944124" h="2209495" fill="none" extrusionOk="0">
                <a:moveTo>
                  <a:pt x="0" y="368257"/>
                </a:moveTo>
                <a:cubicBezTo>
                  <a:pt x="1319" y="200579"/>
                  <a:pt x="176975" y="20310"/>
                  <a:pt x="368257" y="0"/>
                </a:cubicBezTo>
                <a:cubicBezTo>
                  <a:pt x="1317269" y="72427"/>
                  <a:pt x="3458695" y="61419"/>
                  <a:pt x="4575867" y="0"/>
                </a:cubicBezTo>
                <a:cubicBezTo>
                  <a:pt x="4776927" y="-15989"/>
                  <a:pt x="4909641" y="154444"/>
                  <a:pt x="4944124" y="368257"/>
                </a:cubicBezTo>
                <a:cubicBezTo>
                  <a:pt x="4916750" y="604102"/>
                  <a:pt x="5035426" y="1489237"/>
                  <a:pt x="4944124" y="1841238"/>
                </a:cubicBezTo>
                <a:cubicBezTo>
                  <a:pt x="4951408" y="2007655"/>
                  <a:pt x="4756224" y="2183682"/>
                  <a:pt x="4575867" y="2209495"/>
                </a:cubicBezTo>
                <a:cubicBezTo>
                  <a:pt x="2776226" y="2239322"/>
                  <a:pt x="1110370" y="2130189"/>
                  <a:pt x="368257" y="2209495"/>
                </a:cubicBezTo>
                <a:cubicBezTo>
                  <a:pt x="184045" y="2207328"/>
                  <a:pt x="-25608" y="2049685"/>
                  <a:pt x="0" y="1841238"/>
                </a:cubicBezTo>
                <a:cubicBezTo>
                  <a:pt x="16566" y="1187527"/>
                  <a:pt x="44769" y="682400"/>
                  <a:pt x="0" y="368257"/>
                </a:cubicBezTo>
                <a:close/>
              </a:path>
              <a:path w="4944124" h="2209495" stroke="0" extrusionOk="0">
                <a:moveTo>
                  <a:pt x="0" y="368257"/>
                </a:moveTo>
                <a:cubicBezTo>
                  <a:pt x="22256" y="170940"/>
                  <a:pt x="180642" y="32852"/>
                  <a:pt x="368257" y="0"/>
                </a:cubicBezTo>
                <a:cubicBezTo>
                  <a:pt x="1176788" y="123000"/>
                  <a:pt x="3449791" y="-96860"/>
                  <a:pt x="4575867" y="0"/>
                </a:cubicBezTo>
                <a:cubicBezTo>
                  <a:pt x="4763797" y="-11777"/>
                  <a:pt x="4957262" y="138387"/>
                  <a:pt x="4944124" y="368257"/>
                </a:cubicBezTo>
                <a:cubicBezTo>
                  <a:pt x="5020439" y="851292"/>
                  <a:pt x="4991911" y="1483229"/>
                  <a:pt x="4944124" y="1841238"/>
                </a:cubicBezTo>
                <a:cubicBezTo>
                  <a:pt x="4927810" y="2050531"/>
                  <a:pt x="4749551" y="2204634"/>
                  <a:pt x="4575867" y="2209495"/>
                </a:cubicBezTo>
                <a:cubicBezTo>
                  <a:pt x="3774094" y="2048788"/>
                  <a:pt x="2160388" y="2249162"/>
                  <a:pt x="368257" y="2209495"/>
                </a:cubicBezTo>
                <a:cubicBezTo>
                  <a:pt x="146801" y="2205845"/>
                  <a:pt x="-20002" y="2035559"/>
                  <a:pt x="0" y="1841238"/>
                </a:cubicBezTo>
                <a:cubicBezTo>
                  <a:pt x="-125780" y="1254079"/>
                  <a:pt x="-116631" y="872164"/>
                  <a:pt x="0" y="368257"/>
                </a:cubicBezTo>
                <a:close/>
              </a:path>
            </a:pathLst>
          </a:cu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06400">
              <a:schemeClr val="accent4">
                <a:satMod val="175000"/>
                <a:alpha val="22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FA6112E-01C6-9858-0A6E-2A1FC815A3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664" y="-2495260"/>
            <a:ext cx="1807996" cy="180799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C7F0567-B8A0-F142-68D9-669940C5F6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038" y="7789409"/>
            <a:ext cx="2209495" cy="2209495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FE9456E-CF72-ABD9-4306-A96E0DA5B83F}"/>
              </a:ext>
            </a:extLst>
          </p:cNvPr>
          <p:cNvSpPr txBox="1"/>
          <p:nvPr/>
        </p:nvSpPr>
        <p:spPr>
          <a:xfrm>
            <a:off x="-5100074" y="-751432"/>
            <a:ext cx="2209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استفاده از داده‌های های آفلاین کارخانه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B0103B-8B72-A9E0-7F83-A55C1C0C06DD}"/>
              </a:ext>
            </a:extLst>
          </p:cNvPr>
          <p:cNvSpPr txBox="1"/>
          <p:nvPr/>
        </p:nvSpPr>
        <p:spPr>
          <a:xfrm>
            <a:off x="9905441" y="-2910759"/>
            <a:ext cx="1989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ماژولار و افزونه محور مطابق با نیاز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7FF10B-EADB-C53B-61E2-25BD4399429E}"/>
              </a:ext>
            </a:extLst>
          </p:cNvPr>
          <p:cNvSpPr txBox="1"/>
          <p:nvPr/>
        </p:nvSpPr>
        <p:spPr>
          <a:xfrm>
            <a:off x="5445533" y="8059913"/>
            <a:ext cx="23137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کارکرد با رایانه موجود بدون نیاز به زیرساخت‌های ابری یا سرورهای محاسباتی</a:t>
            </a:r>
            <a:br>
              <a:rPr lang="fa-IR" sz="2400" b="1" dirty="0">
                <a:cs typeface="B Nazanin" panose="00000400000000000000" pitchFamily="2" charset="-78"/>
              </a:rPr>
            </a:br>
            <a:endParaRPr lang="en-US" sz="24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08256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13" grpId="0"/>
      <p:bldP spid="14" grpId="0"/>
      <p:bldP spid="23" grpId="0" animBg="1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54A609F-173A-510B-75BB-74177C2A5126}"/>
              </a:ext>
            </a:extLst>
          </p:cNvPr>
          <p:cNvSpPr/>
          <p:nvPr/>
        </p:nvSpPr>
        <p:spPr>
          <a:xfrm>
            <a:off x="6822550" y="690058"/>
            <a:ext cx="3851023" cy="2518365"/>
          </a:xfrm>
          <a:custGeom>
            <a:avLst/>
            <a:gdLst>
              <a:gd name="csX0" fmla="*/ 0 w 3851023"/>
              <a:gd name="csY0" fmla="*/ 419736 h 2518365"/>
              <a:gd name="csX1" fmla="*/ 419736 w 3851023"/>
              <a:gd name="csY1" fmla="*/ 0 h 2518365"/>
              <a:gd name="csX2" fmla="*/ 3431287 w 3851023"/>
              <a:gd name="csY2" fmla="*/ 0 h 2518365"/>
              <a:gd name="csX3" fmla="*/ 3851023 w 3851023"/>
              <a:gd name="csY3" fmla="*/ 419736 h 2518365"/>
              <a:gd name="csX4" fmla="*/ 3851023 w 3851023"/>
              <a:gd name="csY4" fmla="*/ 2098629 h 2518365"/>
              <a:gd name="csX5" fmla="*/ 3431287 w 3851023"/>
              <a:gd name="csY5" fmla="*/ 2518365 h 2518365"/>
              <a:gd name="csX6" fmla="*/ 419736 w 3851023"/>
              <a:gd name="csY6" fmla="*/ 2518365 h 2518365"/>
              <a:gd name="csX7" fmla="*/ 0 w 3851023"/>
              <a:gd name="csY7" fmla="*/ 2098629 h 2518365"/>
              <a:gd name="csX8" fmla="*/ 0 w 3851023"/>
              <a:gd name="csY8" fmla="*/ 419736 h 2518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51023" h="2518365" fill="none" extrusionOk="0">
                <a:moveTo>
                  <a:pt x="0" y="419736"/>
                </a:moveTo>
                <a:cubicBezTo>
                  <a:pt x="781" y="209050"/>
                  <a:pt x="199846" y="20012"/>
                  <a:pt x="419736" y="0"/>
                </a:cubicBezTo>
                <a:cubicBezTo>
                  <a:pt x="871326" y="72427"/>
                  <a:pt x="3075897" y="61419"/>
                  <a:pt x="3431287" y="0"/>
                </a:cubicBezTo>
                <a:cubicBezTo>
                  <a:pt x="3658202" y="-33721"/>
                  <a:pt x="3842435" y="185324"/>
                  <a:pt x="3851023" y="419736"/>
                </a:cubicBezTo>
                <a:cubicBezTo>
                  <a:pt x="3945182" y="675140"/>
                  <a:pt x="3762806" y="1929029"/>
                  <a:pt x="3851023" y="2098629"/>
                </a:cubicBezTo>
                <a:cubicBezTo>
                  <a:pt x="3856238" y="2303977"/>
                  <a:pt x="3649716" y="2503360"/>
                  <a:pt x="3431287" y="2518365"/>
                </a:cubicBezTo>
                <a:cubicBezTo>
                  <a:pt x="2383807" y="2548192"/>
                  <a:pt x="823904" y="2439059"/>
                  <a:pt x="419736" y="2518365"/>
                </a:cubicBezTo>
                <a:cubicBezTo>
                  <a:pt x="211108" y="2515744"/>
                  <a:pt x="-43395" y="2339024"/>
                  <a:pt x="0" y="2098629"/>
                </a:cubicBezTo>
                <a:cubicBezTo>
                  <a:pt x="122010" y="1795210"/>
                  <a:pt x="25663" y="796237"/>
                  <a:pt x="0" y="419736"/>
                </a:cubicBezTo>
                <a:close/>
              </a:path>
              <a:path w="3851023" h="2518365" stroke="0" extrusionOk="0">
                <a:moveTo>
                  <a:pt x="0" y="419736"/>
                </a:moveTo>
                <a:cubicBezTo>
                  <a:pt x="26999" y="195281"/>
                  <a:pt x="191274" y="6983"/>
                  <a:pt x="419736" y="0"/>
                </a:cubicBezTo>
                <a:cubicBezTo>
                  <a:pt x="1518586" y="123000"/>
                  <a:pt x="2238578" y="-96860"/>
                  <a:pt x="3431287" y="0"/>
                </a:cubicBezTo>
                <a:cubicBezTo>
                  <a:pt x="3650788" y="-9384"/>
                  <a:pt x="3858228" y="173396"/>
                  <a:pt x="3851023" y="419736"/>
                </a:cubicBezTo>
                <a:cubicBezTo>
                  <a:pt x="3765890" y="603450"/>
                  <a:pt x="3950754" y="1523425"/>
                  <a:pt x="3851023" y="2098629"/>
                </a:cubicBezTo>
                <a:cubicBezTo>
                  <a:pt x="3811075" y="2344915"/>
                  <a:pt x="3648320" y="2515946"/>
                  <a:pt x="3431287" y="2518365"/>
                </a:cubicBezTo>
                <a:cubicBezTo>
                  <a:pt x="2440342" y="2357658"/>
                  <a:pt x="1272412" y="2558032"/>
                  <a:pt x="419736" y="2518365"/>
                </a:cubicBezTo>
                <a:cubicBezTo>
                  <a:pt x="177683" y="2516297"/>
                  <a:pt x="-29267" y="2317184"/>
                  <a:pt x="0" y="2098629"/>
                </a:cubicBezTo>
                <a:cubicBezTo>
                  <a:pt x="-79595" y="1871309"/>
                  <a:pt x="-115894" y="1249789"/>
                  <a:pt x="0" y="419736"/>
                </a:cubicBezTo>
                <a:close/>
              </a:path>
            </a:pathLst>
          </a:cu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06400">
              <a:schemeClr val="accent4">
                <a:satMod val="175000"/>
                <a:alpha val="22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9DAC8-C749-2C77-572F-867398EFE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7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01166B-DDEC-45CC-EE3D-DA449525A34A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3E4CEC-9AF5-A645-2E8E-0A6969EC692B}"/>
              </a:ext>
            </a:extLst>
          </p:cNvPr>
          <p:cNvSpPr/>
          <p:nvPr/>
        </p:nvSpPr>
        <p:spPr>
          <a:xfrm rot="2729237">
            <a:off x="11107450" y="-493178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47716-F928-A0D5-002A-30FB0CBCDDC9}"/>
              </a:ext>
            </a:extLst>
          </p:cNvPr>
          <p:cNvSpPr txBox="1"/>
          <p:nvPr/>
        </p:nvSpPr>
        <p:spPr>
          <a:xfrm>
            <a:off x="12192405" y="-1975279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مروری بر منابع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1A1D3AD-6372-BA56-40F2-E796A83A239C}"/>
              </a:ext>
            </a:extLst>
          </p:cNvPr>
          <p:cNvSpPr/>
          <p:nvPr/>
        </p:nvSpPr>
        <p:spPr>
          <a:xfrm>
            <a:off x="667121" y="565693"/>
            <a:ext cx="4557952" cy="2944365"/>
          </a:xfrm>
          <a:custGeom>
            <a:avLst/>
            <a:gdLst>
              <a:gd name="csX0" fmla="*/ 0 w 4557952"/>
              <a:gd name="csY0" fmla="*/ 490737 h 2944365"/>
              <a:gd name="csX1" fmla="*/ 490737 w 4557952"/>
              <a:gd name="csY1" fmla="*/ 0 h 2944365"/>
              <a:gd name="csX2" fmla="*/ 4067215 w 4557952"/>
              <a:gd name="csY2" fmla="*/ 0 h 2944365"/>
              <a:gd name="csX3" fmla="*/ 4557952 w 4557952"/>
              <a:gd name="csY3" fmla="*/ 490737 h 2944365"/>
              <a:gd name="csX4" fmla="*/ 4557952 w 4557952"/>
              <a:gd name="csY4" fmla="*/ 2453628 h 2944365"/>
              <a:gd name="csX5" fmla="*/ 4067215 w 4557952"/>
              <a:gd name="csY5" fmla="*/ 2944365 h 2944365"/>
              <a:gd name="csX6" fmla="*/ 490737 w 4557952"/>
              <a:gd name="csY6" fmla="*/ 2944365 h 2944365"/>
              <a:gd name="csX7" fmla="*/ 0 w 4557952"/>
              <a:gd name="csY7" fmla="*/ 2453628 h 2944365"/>
              <a:gd name="csX8" fmla="*/ 0 w 4557952"/>
              <a:gd name="csY8" fmla="*/ 490737 h 2944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557952" h="2944365" fill="none" extrusionOk="0">
                <a:moveTo>
                  <a:pt x="0" y="490737"/>
                </a:moveTo>
                <a:cubicBezTo>
                  <a:pt x="1853" y="269870"/>
                  <a:pt x="243623" y="40134"/>
                  <a:pt x="490737" y="0"/>
                </a:cubicBezTo>
                <a:cubicBezTo>
                  <a:pt x="1796232" y="72427"/>
                  <a:pt x="2335577" y="61419"/>
                  <a:pt x="4067215" y="0"/>
                </a:cubicBezTo>
                <a:cubicBezTo>
                  <a:pt x="4331197" y="-48495"/>
                  <a:pt x="4531025" y="211565"/>
                  <a:pt x="4557952" y="490737"/>
                </a:cubicBezTo>
                <a:cubicBezTo>
                  <a:pt x="4658828" y="1470655"/>
                  <a:pt x="4450639" y="1972290"/>
                  <a:pt x="4557952" y="2453628"/>
                </a:cubicBezTo>
                <a:cubicBezTo>
                  <a:pt x="4564400" y="2691928"/>
                  <a:pt x="4326864" y="2931610"/>
                  <a:pt x="4067215" y="2944365"/>
                </a:cubicBezTo>
                <a:cubicBezTo>
                  <a:pt x="2341352" y="2974192"/>
                  <a:pt x="1087903" y="2865059"/>
                  <a:pt x="490737" y="2944365"/>
                </a:cubicBezTo>
                <a:cubicBezTo>
                  <a:pt x="227513" y="2943483"/>
                  <a:pt x="-18039" y="2728222"/>
                  <a:pt x="0" y="2453628"/>
                </a:cubicBezTo>
                <a:cubicBezTo>
                  <a:pt x="50037" y="1640586"/>
                  <a:pt x="770" y="1049907"/>
                  <a:pt x="0" y="490737"/>
                </a:cubicBezTo>
                <a:close/>
              </a:path>
              <a:path w="4557952" h="2944365" stroke="0" extrusionOk="0">
                <a:moveTo>
                  <a:pt x="0" y="490737"/>
                </a:moveTo>
                <a:cubicBezTo>
                  <a:pt x="44228" y="231766"/>
                  <a:pt x="226013" y="13132"/>
                  <a:pt x="490737" y="0"/>
                </a:cubicBezTo>
                <a:cubicBezTo>
                  <a:pt x="2245887" y="123000"/>
                  <a:pt x="3247304" y="-96860"/>
                  <a:pt x="4067215" y="0"/>
                </a:cubicBezTo>
                <a:cubicBezTo>
                  <a:pt x="4298545" y="-30255"/>
                  <a:pt x="4560286" y="215004"/>
                  <a:pt x="4557952" y="490737"/>
                </a:cubicBezTo>
                <a:cubicBezTo>
                  <a:pt x="4561125" y="716448"/>
                  <a:pt x="4652219" y="2201288"/>
                  <a:pt x="4557952" y="2453628"/>
                </a:cubicBezTo>
                <a:cubicBezTo>
                  <a:pt x="4517880" y="2739172"/>
                  <a:pt x="4333363" y="2943566"/>
                  <a:pt x="4067215" y="2944365"/>
                </a:cubicBezTo>
                <a:cubicBezTo>
                  <a:pt x="2912277" y="2783658"/>
                  <a:pt x="1630883" y="2984032"/>
                  <a:pt x="490737" y="2944365"/>
                </a:cubicBezTo>
                <a:cubicBezTo>
                  <a:pt x="167357" y="2933791"/>
                  <a:pt x="-8461" y="2720822"/>
                  <a:pt x="0" y="2453628"/>
                </a:cubicBezTo>
                <a:cubicBezTo>
                  <a:pt x="32216" y="2184680"/>
                  <a:pt x="57206" y="1432279"/>
                  <a:pt x="0" y="490737"/>
                </a:cubicBezTo>
                <a:close/>
              </a:path>
            </a:pathLst>
          </a:cu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06400">
              <a:schemeClr val="accent4">
                <a:satMod val="175000"/>
                <a:alpha val="22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13302E-7B17-B958-359A-928E13428BC8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ADE37B-56DB-F884-5819-241FB8F82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27" y="685799"/>
            <a:ext cx="1952375" cy="19523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E01BC7-8033-893F-CC8B-B5228B8E7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198" y="641373"/>
            <a:ext cx="1989562" cy="1989562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089BFCF-3280-D81C-46A0-DC7B8CCF44B2}"/>
              </a:ext>
            </a:extLst>
          </p:cNvPr>
          <p:cNvSpPr/>
          <p:nvPr/>
        </p:nvSpPr>
        <p:spPr>
          <a:xfrm>
            <a:off x="3010934" y="4329416"/>
            <a:ext cx="4944124" cy="2209495"/>
          </a:xfrm>
          <a:custGeom>
            <a:avLst/>
            <a:gdLst>
              <a:gd name="csX0" fmla="*/ 0 w 4944124"/>
              <a:gd name="csY0" fmla="*/ 368257 h 2209495"/>
              <a:gd name="csX1" fmla="*/ 368257 w 4944124"/>
              <a:gd name="csY1" fmla="*/ 0 h 2209495"/>
              <a:gd name="csX2" fmla="*/ 4575867 w 4944124"/>
              <a:gd name="csY2" fmla="*/ 0 h 2209495"/>
              <a:gd name="csX3" fmla="*/ 4944124 w 4944124"/>
              <a:gd name="csY3" fmla="*/ 368257 h 2209495"/>
              <a:gd name="csX4" fmla="*/ 4944124 w 4944124"/>
              <a:gd name="csY4" fmla="*/ 1841238 h 2209495"/>
              <a:gd name="csX5" fmla="*/ 4575867 w 4944124"/>
              <a:gd name="csY5" fmla="*/ 2209495 h 2209495"/>
              <a:gd name="csX6" fmla="*/ 368257 w 4944124"/>
              <a:gd name="csY6" fmla="*/ 2209495 h 2209495"/>
              <a:gd name="csX7" fmla="*/ 0 w 4944124"/>
              <a:gd name="csY7" fmla="*/ 1841238 h 2209495"/>
              <a:gd name="csX8" fmla="*/ 0 w 4944124"/>
              <a:gd name="csY8" fmla="*/ 368257 h 2209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944124" h="2209495" fill="none" extrusionOk="0">
                <a:moveTo>
                  <a:pt x="0" y="368257"/>
                </a:moveTo>
                <a:cubicBezTo>
                  <a:pt x="1319" y="200579"/>
                  <a:pt x="176975" y="20310"/>
                  <a:pt x="368257" y="0"/>
                </a:cubicBezTo>
                <a:cubicBezTo>
                  <a:pt x="1317269" y="72427"/>
                  <a:pt x="3458695" y="61419"/>
                  <a:pt x="4575867" y="0"/>
                </a:cubicBezTo>
                <a:cubicBezTo>
                  <a:pt x="4776927" y="-15989"/>
                  <a:pt x="4909641" y="154444"/>
                  <a:pt x="4944124" y="368257"/>
                </a:cubicBezTo>
                <a:cubicBezTo>
                  <a:pt x="4916750" y="604102"/>
                  <a:pt x="5035426" y="1489237"/>
                  <a:pt x="4944124" y="1841238"/>
                </a:cubicBezTo>
                <a:cubicBezTo>
                  <a:pt x="4951408" y="2007655"/>
                  <a:pt x="4756224" y="2183682"/>
                  <a:pt x="4575867" y="2209495"/>
                </a:cubicBezTo>
                <a:cubicBezTo>
                  <a:pt x="2776226" y="2239322"/>
                  <a:pt x="1110370" y="2130189"/>
                  <a:pt x="368257" y="2209495"/>
                </a:cubicBezTo>
                <a:cubicBezTo>
                  <a:pt x="184045" y="2207328"/>
                  <a:pt x="-25608" y="2049685"/>
                  <a:pt x="0" y="1841238"/>
                </a:cubicBezTo>
                <a:cubicBezTo>
                  <a:pt x="16566" y="1187527"/>
                  <a:pt x="44769" y="682400"/>
                  <a:pt x="0" y="368257"/>
                </a:cubicBezTo>
                <a:close/>
              </a:path>
              <a:path w="4944124" h="2209495" stroke="0" extrusionOk="0">
                <a:moveTo>
                  <a:pt x="0" y="368257"/>
                </a:moveTo>
                <a:cubicBezTo>
                  <a:pt x="22256" y="170940"/>
                  <a:pt x="180642" y="32852"/>
                  <a:pt x="368257" y="0"/>
                </a:cubicBezTo>
                <a:cubicBezTo>
                  <a:pt x="1176788" y="123000"/>
                  <a:pt x="3449791" y="-96860"/>
                  <a:pt x="4575867" y="0"/>
                </a:cubicBezTo>
                <a:cubicBezTo>
                  <a:pt x="4763797" y="-11777"/>
                  <a:pt x="4957262" y="138387"/>
                  <a:pt x="4944124" y="368257"/>
                </a:cubicBezTo>
                <a:cubicBezTo>
                  <a:pt x="5020439" y="851292"/>
                  <a:pt x="4991911" y="1483229"/>
                  <a:pt x="4944124" y="1841238"/>
                </a:cubicBezTo>
                <a:cubicBezTo>
                  <a:pt x="4927810" y="2050531"/>
                  <a:pt x="4749551" y="2204634"/>
                  <a:pt x="4575867" y="2209495"/>
                </a:cubicBezTo>
                <a:cubicBezTo>
                  <a:pt x="3774094" y="2048788"/>
                  <a:pt x="2160388" y="2249162"/>
                  <a:pt x="368257" y="2209495"/>
                </a:cubicBezTo>
                <a:cubicBezTo>
                  <a:pt x="146801" y="2205845"/>
                  <a:pt x="-20002" y="2035559"/>
                  <a:pt x="0" y="1841238"/>
                </a:cubicBezTo>
                <a:cubicBezTo>
                  <a:pt x="-125780" y="1254079"/>
                  <a:pt x="-116631" y="872164"/>
                  <a:pt x="0" y="368257"/>
                </a:cubicBezTo>
                <a:close/>
              </a:path>
            </a:pathLst>
          </a:cu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06400">
              <a:schemeClr val="accent4">
                <a:satMod val="175000"/>
                <a:alpha val="22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856EBB-D156-19E3-A645-7ECBAE31C7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491" y="1228470"/>
            <a:ext cx="1807996" cy="18079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1D23C1-02DE-808C-A9A5-87CD2EDC0F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032" y="4329417"/>
            <a:ext cx="2209495" cy="22094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D18E2C4-D136-9A24-85E1-F8DE3869F9A2}"/>
              </a:ext>
            </a:extLst>
          </p:cNvPr>
          <p:cNvSpPr txBox="1"/>
          <p:nvPr/>
        </p:nvSpPr>
        <p:spPr>
          <a:xfrm>
            <a:off x="1488578" y="2566767"/>
            <a:ext cx="2209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استفاده از داده‌های های آفلاین کارخانه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2E16AF-CFE5-A859-91A2-E1FC8686A66B}"/>
              </a:ext>
            </a:extLst>
          </p:cNvPr>
          <p:cNvSpPr txBox="1"/>
          <p:nvPr/>
        </p:nvSpPr>
        <p:spPr>
          <a:xfrm>
            <a:off x="8035268" y="812971"/>
            <a:ext cx="1989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ماژولار و افزونه محور مطابق با نیاز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7AFB5F-8D75-8477-A049-739BF2C9C0FB}"/>
              </a:ext>
            </a:extLst>
          </p:cNvPr>
          <p:cNvSpPr txBox="1"/>
          <p:nvPr/>
        </p:nvSpPr>
        <p:spPr>
          <a:xfrm>
            <a:off x="5422527" y="4599921"/>
            <a:ext cx="23137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کارکرد با رایانه موجود بدون نیاز به زیرساخت‌های ابری یا سرورهای محاسباتی</a:t>
            </a:r>
            <a:br>
              <a:rPr lang="fa-IR" sz="2400" b="1" dirty="0">
                <a:cs typeface="B Nazanin" panose="00000400000000000000" pitchFamily="2" charset="-78"/>
              </a:rPr>
            </a:b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000E647-56C1-7ABA-5882-FC2F2E2616B6}"/>
              </a:ext>
            </a:extLst>
          </p:cNvPr>
          <p:cNvSpPr/>
          <p:nvPr/>
        </p:nvSpPr>
        <p:spPr>
          <a:xfrm>
            <a:off x="13956854" y="-1292681"/>
            <a:ext cx="2318939" cy="11683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BBA1E7-1DE9-EB8A-E555-24B4FAD2ADC1}"/>
              </a:ext>
            </a:extLst>
          </p:cNvPr>
          <p:cNvSpPr txBox="1"/>
          <p:nvPr/>
        </p:nvSpPr>
        <p:spPr>
          <a:xfrm>
            <a:off x="14484451" y="-1065635"/>
            <a:ext cx="1263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200" b="1" dirty="0">
                <a:cs typeface="B Nazanin" panose="00000400000000000000" pitchFamily="2" charset="-78"/>
              </a:rPr>
              <a:t>تب داده</a:t>
            </a:r>
            <a:endParaRPr lang="en-US" sz="3200" b="1" dirty="0">
              <a:cs typeface="B Nazanin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77F8158-4870-5E5D-EE17-9D20B8385D59}"/>
              </a:ext>
            </a:extLst>
          </p:cNvPr>
          <p:cNvSpPr/>
          <p:nvPr/>
        </p:nvSpPr>
        <p:spPr>
          <a:xfrm>
            <a:off x="11100626" y="7928548"/>
            <a:ext cx="2856228" cy="116831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58FE25-ECA5-6825-CE0A-F5F912564391}"/>
              </a:ext>
            </a:extLst>
          </p:cNvPr>
          <p:cNvSpPr txBox="1"/>
          <p:nvPr/>
        </p:nvSpPr>
        <p:spPr>
          <a:xfrm>
            <a:off x="11100626" y="8158099"/>
            <a:ext cx="285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cs typeface="B Nazanin" panose="00000400000000000000" pitchFamily="2" charset="-78"/>
              </a:rPr>
              <a:t>Qt Designer</a:t>
            </a:r>
          </a:p>
        </p:txBody>
      </p:sp>
    </p:spTree>
    <p:extLst>
      <p:ext uri="{BB962C8B-B14F-4D97-AF65-F5344CB8AC3E}">
        <p14:creationId xmlns:p14="http://schemas.microsoft.com/office/powerpoint/2010/main" val="3002719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7C792-50E4-8BDB-88A4-52C5BF700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8</a:t>
            </a:fld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4ABD5E6-C0F2-EBD9-E9F9-BC2FF918BB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 bwMode="auto">
          <a:xfrm>
            <a:off x="736745" y="431248"/>
            <a:ext cx="7316432" cy="5685602"/>
          </a:xfrm>
          <a:prstGeom prst="rect">
            <a:avLst/>
          </a:prstGeom>
          <a:noFill/>
          <a:ln>
            <a:noFill/>
          </a:ln>
          <a:effectLst>
            <a:glow rad="546100">
              <a:schemeClr val="tx1">
                <a:lumMod val="50000"/>
                <a:lumOff val="50000"/>
                <a:alpha val="84000"/>
              </a:schemeClr>
            </a:glo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BF42253-7673-1664-789D-D57FDFB162FD}"/>
              </a:ext>
            </a:extLst>
          </p:cNvPr>
          <p:cNvSpPr/>
          <p:nvPr/>
        </p:nvSpPr>
        <p:spPr>
          <a:xfrm>
            <a:off x="8525524" y="0"/>
            <a:ext cx="366647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4BCAEF-300E-3682-E215-1E71133901A5}"/>
              </a:ext>
            </a:extLst>
          </p:cNvPr>
          <p:cNvSpPr/>
          <p:nvPr/>
        </p:nvSpPr>
        <p:spPr>
          <a:xfrm>
            <a:off x="12192000" y="-3917558"/>
            <a:ext cx="3851023" cy="2518365"/>
          </a:xfrm>
          <a:custGeom>
            <a:avLst/>
            <a:gdLst>
              <a:gd name="csX0" fmla="*/ 0 w 3851023"/>
              <a:gd name="csY0" fmla="*/ 419736 h 2518365"/>
              <a:gd name="csX1" fmla="*/ 419736 w 3851023"/>
              <a:gd name="csY1" fmla="*/ 0 h 2518365"/>
              <a:gd name="csX2" fmla="*/ 3431287 w 3851023"/>
              <a:gd name="csY2" fmla="*/ 0 h 2518365"/>
              <a:gd name="csX3" fmla="*/ 3851023 w 3851023"/>
              <a:gd name="csY3" fmla="*/ 419736 h 2518365"/>
              <a:gd name="csX4" fmla="*/ 3851023 w 3851023"/>
              <a:gd name="csY4" fmla="*/ 2098629 h 2518365"/>
              <a:gd name="csX5" fmla="*/ 3431287 w 3851023"/>
              <a:gd name="csY5" fmla="*/ 2518365 h 2518365"/>
              <a:gd name="csX6" fmla="*/ 419736 w 3851023"/>
              <a:gd name="csY6" fmla="*/ 2518365 h 2518365"/>
              <a:gd name="csX7" fmla="*/ 0 w 3851023"/>
              <a:gd name="csY7" fmla="*/ 2098629 h 2518365"/>
              <a:gd name="csX8" fmla="*/ 0 w 3851023"/>
              <a:gd name="csY8" fmla="*/ 419736 h 2518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51023" h="2518365" fill="none" extrusionOk="0">
                <a:moveTo>
                  <a:pt x="0" y="419736"/>
                </a:moveTo>
                <a:cubicBezTo>
                  <a:pt x="781" y="209050"/>
                  <a:pt x="199846" y="20012"/>
                  <a:pt x="419736" y="0"/>
                </a:cubicBezTo>
                <a:cubicBezTo>
                  <a:pt x="871326" y="72427"/>
                  <a:pt x="3075897" y="61419"/>
                  <a:pt x="3431287" y="0"/>
                </a:cubicBezTo>
                <a:cubicBezTo>
                  <a:pt x="3658202" y="-33721"/>
                  <a:pt x="3842435" y="185324"/>
                  <a:pt x="3851023" y="419736"/>
                </a:cubicBezTo>
                <a:cubicBezTo>
                  <a:pt x="3945182" y="675140"/>
                  <a:pt x="3762806" y="1929029"/>
                  <a:pt x="3851023" y="2098629"/>
                </a:cubicBezTo>
                <a:cubicBezTo>
                  <a:pt x="3856238" y="2303977"/>
                  <a:pt x="3649716" y="2503360"/>
                  <a:pt x="3431287" y="2518365"/>
                </a:cubicBezTo>
                <a:cubicBezTo>
                  <a:pt x="2383807" y="2548192"/>
                  <a:pt x="823904" y="2439059"/>
                  <a:pt x="419736" y="2518365"/>
                </a:cubicBezTo>
                <a:cubicBezTo>
                  <a:pt x="211108" y="2515744"/>
                  <a:pt x="-43395" y="2339024"/>
                  <a:pt x="0" y="2098629"/>
                </a:cubicBezTo>
                <a:cubicBezTo>
                  <a:pt x="122010" y="1795210"/>
                  <a:pt x="25663" y="796237"/>
                  <a:pt x="0" y="419736"/>
                </a:cubicBezTo>
                <a:close/>
              </a:path>
              <a:path w="3851023" h="2518365" stroke="0" extrusionOk="0">
                <a:moveTo>
                  <a:pt x="0" y="419736"/>
                </a:moveTo>
                <a:cubicBezTo>
                  <a:pt x="26999" y="195281"/>
                  <a:pt x="191274" y="6983"/>
                  <a:pt x="419736" y="0"/>
                </a:cubicBezTo>
                <a:cubicBezTo>
                  <a:pt x="1518586" y="123000"/>
                  <a:pt x="2238578" y="-96860"/>
                  <a:pt x="3431287" y="0"/>
                </a:cubicBezTo>
                <a:cubicBezTo>
                  <a:pt x="3650788" y="-9384"/>
                  <a:pt x="3858228" y="173396"/>
                  <a:pt x="3851023" y="419736"/>
                </a:cubicBezTo>
                <a:cubicBezTo>
                  <a:pt x="3765890" y="603450"/>
                  <a:pt x="3950754" y="1523425"/>
                  <a:pt x="3851023" y="2098629"/>
                </a:cubicBezTo>
                <a:cubicBezTo>
                  <a:pt x="3811075" y="2344915"/>
                  <a:pt x="3648320" y="2515946"/>
                  <a:pt x="3431287" y="2518365"/>
                </a:cubicBezTo>
                <a:cubicBezTo>
                  <a:pt x="2440342" y="2357658"/>
                  <a:pt x="1272412" y="2558032"/>
                  <a:pt x="419736" y="2518365"/>
                </a:cubicBezTo>
                <a:cubicBezTo>
                  <a:pt x="177683" y="2516297"/>
                  <a:pt x="-29267" y="2317184"/>
                  <a:pt x="0" y="2098629"/>
                </a:cubicBezTo>
                <a:cubicBezTo>
                  <a:pt x="-79595" y="1871309"/>
                  <a:pt x="-115894" y="1249789"/>
                  <a:pt x="0" y="419736"/>
                </a:cubicBezTo>
                <a:close/>
              </a:path>
            </a:pathLst>
          </a:cu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06400">
              <a:schemeClr val="accent4">
                <a:satMod val="175000"/>
                <a:alpha val="22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19C5F2-8658-48A5-26FC-278C3C73409B}"/>
              </a:ext>
            </a:extLst>
          </p:cNvPr>
          <p:cNvSpPr/>
          <p:nvPr/>
        </p:nvSpPr>
        <p:spPr>
          <a:xfrm>
            <a:off x="-4193639" y="-4659449"/>
            <a:ext cx="4557952" cy="2944365"/>
          </a:xfrm>
          <a:custGeom>
            <a:avLst/>
            <a:gdLst>
              <a:gd name="csX0" fmla="*/ 0 w 4557952"/>
              <a:gd name="csY0" fmla="*/ 490737 h 2944365"/>
              <a:gd name="csX1" fmla="*/ 490737 w 4557952"/>
              <a:gd name="csY1" fmla="*/ 0 h 2944365"/>
              <a:gd name="csX2" fmla="*/ 4067215 w 4557952"/>
              <a:gd name="csY2" fmla="*/ 0 h 2944365"/>
              <a:gd name="csX3" fmla="*/ 4557952 w 4557952"/>
              <a:gd name="csY3" fmla="*/ 490737 h 2944365"/>
              <a:gd name="csX4" fmla="*/ 4557952 w 4557952"/>
              <a:gd name="csY4" fmla="*/ 2453628 h 2944365"/>
              <a:gd name="csX5" fmla="*/ 4067215 w 4557952"/>
              <a:gd name="csY5" fmla="*/ 2944365 h 2944365"/>
              <a:gd name="csX6" fmla="*/ 490737 w 4557952"/>
              <a:gd name="csY6" fmla="*/ 2944365 h 2944365"/>
              <a:gd name="csX7" fmla="*/ 0 w 4557952"/>
              <a:gd name="csY7" fmla="*/ 2453628 h 2944365"/>
              <a:gd name="csX8" fmla="*/ 0 w 4557952"/>
              <a:gd name="csY8" fmla="*/ 490737 h 2944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557952" h="2944365" fill="none" extrusionOk="0">
                <a:moveTo>
                  <a:pt x="0" y="490737"/>
                </a:moveTo>
                <a:cubicBezTo>
                  <a:pt x="1853" y="269870"/>
                  <a:pt x="243623" y="40134"/>
                  <a:pt x="490737" y="0"/>
                </a:cubicBezTo>
                <a:cubicBezTo>
                  <a:pt x="1796232" y="72427"/>
                  <a:pt x="2335577" y="61419"/>
                  <a:pt x="4067215" y="0"/>
                </a:cubicBezTo>
                <a:cubicBezTo>
                  <a:pt x="4331197" y="-48495"/>
                  <a:pt x="4531025" y="211565"/>
                  <a:pt x="4557952" y="490737"/>
                </a:cubicBezTo>
                <a:cubicBezTo>
                  <a:pt x="4658828" y="1470655"/>
                  <a:pt x="4450639" y="1972290"/>
                  <a:pt x="4557952" y="2453628"/>
                </a:cubicBezTo>
                <a:cubicBezTo>
                  <a:pt x="4564400" y="2691928"/>
                  <a:pt x="4326864" y="2931610"/>
                  <a:pt x="4067215" y="2944365"/>
                </a:cubicBezTo>
                <a:cubicBezTo>
                  <a:pt x="2341352" y="2974192"/>
                  <a:pt x="1087903" y="2865059"/>
                  <a:pt x="490737" y="2944365"/>
                </a:cubicBezTo>
                <a:cubicBezTo>
                  <a:pt x="227513" y="2943483"/>
                  <a:pt x="-18039" y="2728222"/>
                  <a:pt x="0" y="2453628"/>
                </a:cubicBezTo>
                <a:cubicBezTo>
                  <a:pt x="50037" y="1640586"/>
                  <a:pt x="770" y="1049907"/>
                  <a:pt x="0" y="490737"/>
                </a:cubicBezTo>
                <a:close/>
              </a:path>
              <a:path w="4557952" h="2944365" stroke="0" extrusionOk="0">
                <a:moveTo>
                  <a:pt x="0" y="490737"/>
                </a:moveTo>
                <a:cubicBezTo>
                  <a:pt x="44228" y="231766"/>
                  <a:pt x="226013" y="13132"/>
                  <a:pt x="490737" y="0"/>
                </a:cubicBezTo>
                <a:cubicBezTo>
                  <a:pt x="2245887" y="123000"/>
                  <a:pt x="3247304" y="-96860"/>
                  <a:pt x="4067215" y="0"/>
                </a:cubicBezTo>
                <a:cubicBezTo>
                  <a:pt x="4298545" y="-30255"/>
                  <a:pt x="4560286" y="215004"/>
                  <a:pt x="4557952" y="490737"/>
                </a:cubicBezTo>
                <a:cubicBezTo>
                  <a:pt x="4561125" y="716448"/>
                  <a:pt x="4652219" y="2201288"/>
                  <a:pt x="4557952" y="2453628"/>
                </a:cubicBezTo>
                <a:cubicBezTo>
                  <a:pt x="4517880" y="2739172"/>
                  <a:pt x="4333363" y="2943566"/>
                  <a:pt x="4067215" y="2944365"/>
                </a:cubicBezTo>
                <a:cubicBezTo>
                  <a:pt x="2912277" y="2783658"/>
                  <a:pt x="1630883" y="2984032"/>
                  <a:pt x="490737" y="2944365"/>
                </a:cubicBezTo>
                <a:cubicBezTo>
                  <a:pt x="167357" y="2933791"/>
                  <a:pt x="-8461" y="2720822"/>
                  <a:pt x="0" y="2453628"/>
                </a:cubicBezTo>
                <a:cubicBezTo>
                  <a:pt x="32216" y="2184680"/>
                  <a:pt x="57206" y="1432279"/>
                  <a:pt x="0" y="490737"/>
                </a:cubicBezTo>
                <a:close/>
              </a:path>
            </a:pathLst>
          </a:cu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06400">
              <a:schemeClr val="accent4">
                <a:satMod val="175000"/>
                <a:alpha val="22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F17576-C525-2D66-99A1-0CD3031E6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69933" y="-4539343"/>
            <a:ext cx="1952375" cy="1952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0BEB30-2B7D-0F5B-0D3E-E9F188632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89562" y="-4583769"/>
            <a:ext cx="1989562" cy="1989562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E51812E-093B-D30A-22FF-7F68C005796B}"/>
              </a:ext>
            </a:extLst>
          </p:cNvPr>
          <p:cNvSpPr/>
          <p:nvPr/>
        </p:nvSpPr>
        <p:spPr>
          <a:xfrm>
            <a:off x="3581400" y="9717845"/>
            <a:ext cx="4944124" cy="2209495"/>
          </a:xfrm>
          <a:custGeom>
            <a:avLst/>
            <a:gdLst>
              <a:gd name="csX0" fmla="*/ 0 w 4944124"/>
              <a:gd name="csY0" fmla="*/ 368257 h 2209495"/>
              <a:gd name="csX1" fmla="*/ 368257 w 4944124"/>
              <a:gd name="csY1" fmla="*/ 0 h 2209495"/>
              <a:gd name="csX2" fmla="*/ 4575867 w 4944124"/>
              <a:gd name="csY2" fmla="*/ 0 h 2209495"/>
              <a:gd name="csX3" fmla="*/ 4944124 w 4944124"/>
              <a:gd name="csY3" fmla="*/ 368257 h 2209495"/>
              <a:gd name="csX4" fmla="*/ 4944124 w 4944124"/>
              <a:gd name="csY4" fmla="*/ 1841238 h 2209495"/>
              <a:gd name="csX5" fmla="*/ 4575867 w 4944124"/>
              <a:gd name="csY5" fmla="*/ 2209495 h 2209495"/>
              <a:gd name="csX6" fmla="*/ 368257 w 4944124"/>
              <a:gd name="csY6" fmla="*/ 2209495 h 2209495"/>
              <a:gd name="csX7" fmla="*/ 0 w 4944124"/>
              <a:gd name="csY7" fmla="*/ 1841238 h 2209495"/>
              <a:gd name="csX8" fmla="*/ 0 w 4944124"/>
              <a:gd name="csY8" fmla="*/ 368257 h 2209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944124" h="2209495" fill="none" extrusionOk="0">
                <a:moveTo>
                  <a:pt x="0" y="368257"/>
                </a:moveTo>
                <a:cubicBezTo>
                  <a:pt x="1319" y="200579"/>
                  <a:pt x="176975" y="20310"/>
                  <a:pt x="368257" y="0"/>
                </a:cubicBezTo>
                <a:cubicBezTo>
                  <a:pt x="1317269" y="72427"/>
                  <a:pt x="3458695" y="61419"/>
                  <a:pt x="4575867" y="0"/>
                </a:cubicBezTo>
                <a:cubicBezTo>
                  <a:pt x="4776927" y="-15989"/>
                  <a:pt x="4909641" y="154444"/>
                  <a:pt x="4944124" y="368257"/>
                </a:cubicBezTo>
                <a:cubicBezTo>
                  <a:pt x="4916750" y="604102"/>
                  <a:pt x="5035426" y="1489237"/>
                  <a:pt x="4944124" y="1841238"/>
                </a:cubicBezTo>
                <a:cubicBezTo>
                  <a:pt x="4951408" y="2007655"/>
                  <a:pt x="4756224" y="2183682"/>
                  <a:pt x="4575867" y="2209495"/>
                </a:cubicBezTo>
                <a:cubicBezTo>
                  <a:pt x="2776226" y="2239322"/>
                  <a:pt x="1110370" y="2130189"/>
                  <a:pt x="368257" y="2209495"/>
                </a:cubicBezTo>
                <a:cubicBezTo>
                  <a:pt x="184045" y="2207328"/>
                  <a:pt x="-25608" y="2049685"/>
                  <a:pt x="0" y="1841238"/>
                </a:cubicBezTo>
                <a:cubicBezTo>
                  <a:pt x="16566" y="1187527"/>
                  <a:pt x="44769" y="682400"/>
                  <a:pt x="0" y="368257"/>
                </a:cubicBezTo>
                <a:close/>
              </a:path>
              <a:path w="4944124" h="2209495" stroke="0" extrusionOk="0">
                <a:moveTo>
                  <a:pt x="0" y="368257"/>
                </a:moveTo>
                <a:cubicBezTo>
                  <a:pt x="22256" y="170940"/>
                  <a:pt x="180642" y="32852"/>
                  <a:pt x="368257" y="0"/>
                </a:cubicBezTo>
                <a:cubicBezTo>
                  <a:pt x="1176788" y="123000"/>
                  <a:pt x="3449791" y="-96860"/>
                  <a:pt x="4575867" y="0"/>
                </a:cubicBezTo>
                <a:cubicBezTo>
                  <a:pt x="4763797" y="-11777"/>
                  <a:pt x="4957262" y="138387"/>
                  <a:pt x="4944124" y="368257"/>
                </a:cubicBezTo>
                <a:cubicBezTo>
                  <a:pt x="5020439" y="851292"/>
                  <a:pt x="4991911" y="1483229"/>
                  <a:pt x="4944124" y="1841238"/>
                </a:cubicBezTo>
                <a:cubicBezTo>
                  <a:pt x="4927810" y="2050531"/>
                  <a:pt x="4749551" y="2204634"/>
                  <a:pt x="4575867" y="2209495"/>
                </a:cubicBezTo>
                <a:cubicBezTo>
                  <a:pt x="3774094" y="2048788"/>
                  <a:pt x="2160388" y="2249162"/>
                  <a:pt x="368257" y="2209495"/>
                </a:cubicBezTo>
                <a:cubicBezTo>
                  <a:pt x="146801" y="2205845"/>
                  <a:pt x="-20002" y="2035559"/>
                  <a:pt x="0" y="1841238"/>
                </a:cubicBezTo>
                <a:cubicBezTo>
                  <a:pt x="-125780" y="1254079"/>
                  <a:pt x="-116631" y="872164"/>
                  <a:pt x="0" y="368257"/>
                </a:cubicBezTo>
                <a:close/>
              </a:path>
            </a:pathLst>
          </a:cu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06400">
              <a:schemeClr val="accent4">
                <a:satMod val="175000"/>
                <a:alpha val="22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010269-C2B7-3126-DE12-DED6CFEA0D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941" y="-3379146"/>
            <a:ext cx="1807996" cy="18079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B2A111-A690-2AE3-5828-7B26E77629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498" y="9717846"/>
            <a:ext cx="2209495" cy="22094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6162B60-68FF-B4FD-8AAB-218F210E8CAE}"/>
              </a:ext>
            </a:extLst>
          </p:cNvPr>
          <p:cNvSpPr txBox="1"/>
          <p:nvPr/>
        </p:nvSpPr>
        <p:spPr>
          <a:xfrm>
            <a:off x="-3372182" y="-2658375"/>
            <a:ext cx="2209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استفاده از داده‌های های آفلاین کارخانه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C1170-AB02-87A7-BF74-06423EF4071F}"/>
              </a:ext>
            </a:extLst>
          </p:cNvPr>
          <p:cNvSpPr txBox="1"/>
          <p:nvPr/>
        </p:nvSpPr>
        <p:spPr>
          <a:xfrm>
            <a:off x="13404718" y="-3794645"/>
            <a:ext cx="1989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ماژولار و افزونه محور مطابق با نیاز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0EF82BA-4411-3A01-2422-A1EDFEBD18E9}"/>
              </a:ext>
            </a:extLst>
          </p:cNvPr>
          <p:cNvSpPr/>
          <p:nvPr/>
        </p:nvSpPr>
        <p:spPr>
          <a:xfrm>
            <a:off x="8525524" y="1347537"/>
            <a:ext cx="2318939" cy="11683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A56053-E11E-C4C7-C6A1-EDC2E2D9D91D}"/>
              </a:ext>
            </a:extLst>
          </p:cNvPr>
          <p:cNvSpPr txBox="1"/>
          <p:nvPr/>
        </p:nvSpPr>
        <p:spPr>
          <a:xfrm>
            <a:off x="5992993" y="9988350"/>
            <a:ext cx="23137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کارکرد با رایانه موجود بدون نیاز به زیرساخت‌های ابری یا سرورهای محاسباتی</a:t>
            </a:r>
            <a:br>
              <a:rPr lang="fa-IR" sz="2400" b="1" dirty="0">
                <a:cs typeface="B Nazanin" panose="00000400000000000000" pitchFamily="2" charset="-78"/>
              </a:rPr>
            </a:b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8DBEE1-DF8D-FB43-0893-5D78BAA10D67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0B32CB-A76B-2982-E8DF-5F1F44B252D7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4B7A27-EE9D-1CD2-A898-465C6658A5B1}"/>
              </a:ext>
            </a:extLst>
          </p:cNvPr>
          <p:cNvSpPr txBox="1"/>
          <p:nvPr/>
        </p:nvSpPr>
        <p:spPr>
          <a:xfrm>
            <a:off x="8997869" y="1608530"/>
            <a:ext cx="137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داده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AF709AD-FF70-40A2-336A-27730AA0BE8F}"/>
              </a:ext>
            </a:extLst>
          </p:cNvPr>
          <p:cNvSpPr/>
          <p:nvPr/>
        </p:nvSpPr>
        <p:spPr>
          <a:xfrm>
            <a:off x="8944002" y="4872527"/>
            <a:ext cx="2856228" cy="116831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825AAF-A839-A71C-FD1F-753C91923E01}"/>
              </a:ext>
            </a:extLst>
          </p:cNvPr>
          <p:cNvSpPr txBox="1"/>
          <p:nvPr/>
        </p:nvSpPr>
        <p:spPr>
          <a:xfrm>
            <a:off x="8944002" y="5202455"/>
            <a:ext cx="285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cs typeface="B Nazanin" panose="00000400000000000000" pitchFamily="2" charset="-78"/>
              </a:rPr>
              <a:t>Qt Designer</a:t>
            </a:r>
          </a:p>
        </p:txBody>
      </p:sp>
    </p:spTree>
    <p:extLst>
      <p:ext uri="{BB962C8B-B14F-4D97-AF65-F5344CB8AC3E}">
        <p14:creationId xmlns:p14="http://schemas.microsoft.com/office/powerpoint/2010/main" val="2528335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17F88-4C6B-6F24-B7E3-EF20D116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7989" y="504501"/>
            <a:ext cx="2743200" cy="365125"/>
          </a:xfrm>
        </p:spPr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9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701EFD-95F5-72E1-BE1D-683AE96772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 bwMode="auto">
          <a:xfrm>
            <a:off x="-343022" y="2104377"/>
            <a:ext cx="12285339" cy="9546941"/>
          </a:xfrm>
          <a:prstGeom prst="rect">
            <a:avLst/>
          </a:prstGeom>
          <a:noFill/>
          <a:ln>
            <a:noFill/>
          </a:ln>
          <a:effectLst>
            <a:glow rad="546100">
              <a:schemeClr val="tx1">
                <a:lumMod val="50000"/>
                <a:lumOff val="50000"/>
                <a:alpha val="84000"/>
              </a:schemeClr>
            </a:glo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6E3ED44-BC71-AABA-2A91-FC504A6982A9}"/>
              </a:ext>
            </a:extLst>
          </p:cNvPr>
          <p:cNvSpPr/>
          <p:nvPr/>
        </p:nvSpPr>
        <p:spPr>
          <a:xfrm>
            <a:off x="8525524" y="0"/>
            <a:ext cx="366647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A469DE-E40A-0F9B-94E2-B8BF8F1C3E69}"/>
              </a:ext>
            </a:extLst>
          </p:cNvPr>
          <p:cNvSpPr/>
          <p:nvPr/>
        </p:nvSpPr>
        <p:spPr>
          <a:xfrm>
            <a:off x="8525524" y="1347537"/>
            <a:ext cx="2318939" cy="11683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48C6E83-5DC5-FE1F-FAFF-C6D11B067335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890044-2B3F-F835-56A9-9703BA482885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543389-59D3-5084-EF90-07DE6F1E90CA}"/>
              </a:ext>
            </a:extLst>
          </p:cNvPr>
          <p:cNvSpPr txBox="1"/>
          <p:nvPr/>
        </p:nvSpPr>
        <p:spPr>
          <a:xfrm>
            <a:off x="8997869" y="1608530"/>
            <a:ext cx="137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داده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20245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49D04-0A2F-63E0-9C3C-9D7EE6EA7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468897"/>
            <a:ext cx="2743200" cy="365125"/>
          </a:xfrm>
        </p:spPr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2603D-34A2-4C99-5F63-492C7F5203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 bwMode="auto">
          <a:xfrm>
            <a:off x="-4743884" y="989864"/>
            <a:ext cx="15102646" cy="11736271"/>
          </a:xfrm>
          <a:prstGeom prst="rect">
            <a:avLst/>
          </a:prstGeom>
          <a:noFill/>
          <a:ln>
            <a:noFill/>
          </a:ln>
          <a:effectLst>
            <a:glow rad="546100">
              <a:schemeClr val="tx1">
                <a:lumMod val="50000"/>
                <a:lumOff val="50000"/>
                <a:alpha val="84000"/>
              </a:schemeClr>
            </a:glo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94877-0473-EBDB-8737-CA1C88E2D57E}"/>
              </a:ext>
            </a:extLst>
          </p:cNvPr>
          <p:cNvSpPr/>
          <p:nvPr/>
        </p:nvSpPr>
        <p:spPr>
          <a:xfrm>
            <a:off x="8525524" y="0"/>
            <a:ext cx="366647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0DCFD3-BC6F-EE8D-F667-989AFDF975E5}"/>
              </a:ext>
            </a:extLst>
          </p:cNvPr>
          <p:cNvSpPr/>
          <p:nvPr/>
        </p:nvSpPr>
        <p:spPr>
          <a:xfrm>
            <a:off x="8525524" y="1347537"/>
            <a:ext cx="2318939" cy="11683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F4F51D-4802-4D63-75D5-4BA11839E5EA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074A34-9FD6-7C52-5984-BFABEDE6A695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1B3DA8-39F0-E25A-9321-647A765ADF20}"/>
              </a:ext>
            </a:extLst>
          </p:cNvPr>
          <p:cNvSpPr txBox="1"/>
          <p:nvPr/>
        </p:nvSpPr>
        <p:spPr>
          <a:xfrm>
            <a:off x="8997869" y="1608530"/>
            <a:ext cx="137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داده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22833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E59B8-A0EA-C9D6-DBB8-999B4580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948" y="312370"/>
            <a:ext cx="2743200" cy="365125"/>
          </a:xfrm>
        </p:spPr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057D3-8EE7-4054-C620-48FD15FBDD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 bwMode="auto">
          <a:xfrm>
            <a:off x="381567" y="989864"/>
            <a:ext cx="15102646" cy="11736271"/>
          </a:xfrm>
          <a:prstGeom prst="rect">
            <a:avLst/>
          </a:prstGeom>
          <a:noFill/>
          <a:ln>
            <a:noFill/>
          </a:ln>
          <a:effectLst>
            <a:glow rad="546100">
              <a:schemeClr val="tx1">
                <a:lumMod val="50000"/>
                <a:lumOff val="50000"/>
                <a:alpha val="84000"/>
              </a:schemeClr>
            </a:glo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E516914-F6EC-5378-A58B-4CEFDA8182A7}"/>
              </a:ext>
            </a:extLst>
          </p:cNvPr>
          <p:cNvSpPr/>
          <p:nvPr/>
        </p:nvSpPr>
        <p:spPr>
          <a:xfrm>
            <a:off x="8525524" y="0"/>
            <a:ext cx="366647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28E3E2-FAE5-C228-C089-33B649F8DCBA}"/>
              </a:ext>
            </a:extLst>
          </p:cNvPr>
          <p:cNvSpPr/>
          <p:nvPr/>
        </p:nvSpPr>
        <p:spPr>
          <a:xfrm>
            <a:off x="8525524" y="1347537"/>
            <a:ext cx="2318939" cy="11683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4CBBA4-9A92-BD14-4247-1F1621809EAF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4D54AD-C491-3373-FF60-BDC6CA4D6D63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854E7C-B5FC-3B9F-A169-F2FC4634EE17}"/>
              </a:ext>
            </a:extLst>
          </p:cNvPr>
          <p:cNvSpPr txBox="1"/>
          <p:nvPr/>
        </p:nvSpPr>
        <p:spPr>
          <a:xfrm>
            <a:off x="8997869" y="1608530"/>
            <a:ext cx="137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داده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20271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940C3-C9D2-124B-8EF6-F4120CC2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268374"/>
            <a:ext cx="2743200" cy="365125"/>
          </a:xfrm>
        </p:spPr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12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6295DB-D7D7-B349-FEC8-0D326A0F55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 bwMode="auto">
          <a:xfrm>
            <a:off x="1446546" y="-3352281"/>
            <a:ext cx="15102646" cy="11736271"/>
          </a:xfrm>
          <a:prstGeom prst="rect">
            <a:avLst/>
          </a:prstGeom>
          <a:noFill/>
          <a:ln>
            <a:noFill/>
          </a:ln>
          <a:effectLst>
            <a:glow rad="546100">
              <a:schemeClr val="tx1">
                <a:lumMod val="50000"/>
                <a:lumOff val="50000"/>
                <a:alpha val="84000"/>
              </a:schemeClr>
            </a:glo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F269F9D-FC9C-46BB-BB4B-F8E9511F2935}"/>
              </a:ext>
            </a:extLst>
          </p:cNvPr>
          <p:cNvSpPr/>
          <p:nvPr/>
        </p:nvSpPr>
        <p:spPr>
          <a:xfrm>
            <a:off x="8525524" y="0"/>
            <a:ext cx="366647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2156ACC-1511-E00A-0808-EDEB22BC0C7E}"/>
              </a:ext>
            </a:extLst>
          </p:cNvPr>
          <p:cNvSpPr/>
          <p:nvPr/>
        </p:nvSpPr>
        <p:spPr>
          <a:xfrm>
            <a:off x="8525524" y="1347537"/>
            <a:ext cx="2318939" cy="11683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3566EA3-8C7A-B9F0-DCBD-43E1226DC4E3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16A797-A36A-382C-DB27-CABBDA27F787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C1B6AF-B218-AC9E-BAA4-2440D2FB7844}"/>
              </a:ext>
            </a:extLst>
          </p:cNvPr>
          <p:cNvSpPr txBox="1"/>
          <p:nvPr/>
        </p:nvSpPr>
        <p:spPr>
          <a:xfrm>
            <a:off x="8997869" y="1608530"/>
            <a:ext cx="137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داده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64044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D00324-361B-BA89-EBA7-1B6940C457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 bwMode="auto">
          <a:xfrm>
            <a:off x="-6340949" y="-3352281"/>
            <a:ext cx="15102646" cy="11736271"/>
          </a:xfrm>
          <a:prstGeom prst="rect">
            <a:avLst/>
          </a:prstGeom>
          <a:noFill/>
          <a:ln>
            <a:noFill/>
          </a:ln>
          <a:effectLst>
            <a:glow rad="546100">
              <a:schemeClr val="tx1">
                <a:lumMod val="50000"/>
                <a:lumOff val="50000"/>
                <a:alpha val="84000"/>
              </a:schemeClr>
            </a:glo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26E13C-4BF0-2347-D939-4F2A85B05DEB}"/>
              </a:ext>
            </a:extLst>
          </p:cNvPr>
          <p:cNvSpPr/>
          <p:nvPr/>
        </p:nvSpPr>
        <p:spPr>
          <a:xfrm>
            <a:off x="8525524" y="0"/>
            <a:ext cx="366647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670F70-95D7-7223-F5A9-26A0C5DD36D7}"/>
              </a:ext>
            </a:extLst>
          </p:cNvPr>
          <p:cNvSpPr/>
          <p:nvPr/>
        </p:nvSpPr>
        <p:spPr>
          <a:xfrm>
            <a:off x="8525524" y="1347537"/>
            <a:ext cx="2318939" cy="11683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8FEA9A-406D-1E3B-A88C-CC57B8E63E1F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AF8CA-9F47-C2FC-D947-83051A4C9E0A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4666F8-4FE7-B7CF-5006-9A9C808C6927}"/>
              </a:ext>
            </a:extLst>
          </p:cNvPr>
          <p:cNvSpPr txBox="1"/>
          <p:nvPr/>
        </p:nvSpPr>
        <p:spPr>
          <a:xfrm>
            <a:off x="8997869" y="1608530"/>
            <a:ext cx="137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داده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1719F-AB16-7826-0C67-3F1C6B22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0516" y="6440810"/>
            <a:ext cx="2743200" cy="365125"/>
          </a:xfrm>
        </p:spPr>
        <p:txBody>
          <a:bodyPr/>
          <a:lstStyle/>
          <a:p>
            <a:pPr algn="r"/>
            <a:fld id="{25276947-FFA0-44F6-8F12-C0D461897C70}" type="slidenum">
              <a:rPr lang="en-US" smtClean="0"/>
              <a:pPr algn="r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047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9D194-0715-BDB3-84F9-2E2D9ECC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14</a:t>
            </a:fld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669CC12-FDEC-2635-702A-F546BCDB03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 bwMode="auto">
          <a:xfrm>
            <a:off x="-1455323" y="-6225808"/>
            <a:ext cx="15102646" cy="11736271"/>
          </a:xfrm>
          <a:prstGeom prst="rect">
            <a:avLst/>
          </a:prstGeom>
          <a:noFill/>
          <a:ln>
            <a:noFill/>
          </a:ln>
          <a:effectLst>
            <a:glow rad="546100">
              <a:schemeClr val="tx1">
                <a:lumMod val="50000"/>
                <a:lumOff val="50000"/>
                <a:alpha val="84000"/>
              </a:schemeClr>
            </a:glo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F829EB0-E9BA-1CD1-3BA0-3FF39FE2B388}"/>
              </a:ext>
            </a:extLst>
          </p:cNvPr>
          <p:cNvSpPr/>
          <p:nvPr/>
        </p:nvSpPr>
        <p:spPr>
          <a:xfrm>
            <a:off x="8525524" y="0"/>
            <a:ext cx="366647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C6B59C2-7FF9-2EA9-08CC-921B7E750A59}"/>
              </a:ext>
            </a:extLst>
          </p:cNvPr>
          <p:cNvSpPr/>
          <p:nvPr/>
        </p:nvSpPr>
        <p:spPr>
          <a:xfrm>
            <a:off x="8525524" y="1347537"/>
            <a:ext cx="2318939" cy="11683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C469FCD-6327-8DE4-7F64-3006F4CA4FCB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E1CF6A-F9AA-31E5-9BCB-87EAF89C9195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D542D5-E097-7A0A-EDDC-2F8D51053FEB}"/>
              </a:ext>
            </a:extLst>
          </p:cNvPr>
          <p:cNvSpPr txBox="1"/>
          <p:nvPr/>
        </p:nvSpPr>
        <p:spPr>
          <a:xfrm>
            <a:off x="8997869" y="1608530"/>
            <a:ext cx="137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داده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D1A422C-375F-AC31-F8A7-0ADF7EE028B8}"/>
              </a:ext>
            </a:extLst>
          </p:cNvPr>
          <p:cNvSpPr/>
          <p:nvPr/>
        </p:nvSpPr>
        <p:spPr>
          <a:xfrm>
            <a:off x="8292873" y="-3108425"/>
            <a:ext cx="2551590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1E5E77-6C17-7AD2-C4CB-37D085F2399A}"/>
              </a:ext>
            </a:extLst>
          </p:cNvPr>
          <p:cNvSpPr txBox="1"/>
          <p:nvPr/>
        </p:nvSpPr>
        <p:spPr>
          <a:xfrm>
            <a:off x="8292873" y="-2823369"/>
            <a:ext cx="25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آموزش مدل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47278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9B1FA-93F4-A99E-B51F-584AF172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15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AB02C8-A27E-B9B5-1557-1A6B0B91CF74}"/>
              </a:ext>
            </a:extLst>
          </p:cNvPr>
          <p:cNvSpPr/>
          <p:nvPr/>
        </p:nvSpPr>
        <p:spPr>
          <a:xfrm>
            <a:off x="8161694" y="0"/>
            <a:ext cx="40303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87D618-8922-50AC-B354-2BDAFD1A3BA6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33FBF-93FB-0E71-3BD6-6D6CE14758E1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12C5E8-67FC-9F3B-E74E-FC491A697FD9}"/>
              </a:ext>
            </a:extLst>
          </p:cNvPr>
          <p:cNvSpPr/>
          <p:nvPr/>
        </p:nvSpPr>
        <p:spPr>
          <a:xfrm>
            <a:off x="8292873" y="1323474"/>
            <a:ext cx="2551590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D05D2A-D723-FCE8-C87D-C85EA408771E}"/>
              </a:ext>
            </a:extLst>
          </p:cNvPr>
          <p:cNvSpPr txBox="1"/>
          <p:nvPr/>
        </p:nvSpPr>
        <p:spPr>
          <a:xfrm>
            <a:off x="8292873" y="1608530"/>
            <a:ext cx="25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آموزش مدل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B99816C-43E0-8784-D616-865FFA05F655}"/>
              </a:ext>
            </a:extLst>
          </p:cNvPr>
          <p:cNvSpPr/>
          <p:nvPr/>
        </p:nvSpPr>
        <p:spPr>
          <a:xfrm>
            <a:off x="13193777" y="-1443789"/>
            <a:ext cx="2318939" cy="11683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0A534A-F30C-20B8-2C01-777696F5A418}"/>
              </a:ext>
            </a:extLst>
          </p:cNvPr>
          <p:cNvSpPr txBox="1"/>
          <p:nvPr/>
        </p:nvSpPr>
        <p:spPr>
          <a:xfrm>
            <a:off x="13666122" y="-1182796"/>
            <a:ext cx="137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داده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59CEFB9-26ED-05E1-A41B-1177F1E1F8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87" y="434258"/>
            <a:ext cx="7548207" cy="5873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9789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00022A9-146D-1114-2ABC-138DB9CA86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996" y="1931695"/>
            <a:ext cx="17163701" cy="1335569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85B9F6E-BEAB-5D13-0F9E-2E078B70F051}"/>
              </a:ext>
            </a:extLst>
          </p:cNvPr>
          <p:cNvSpPr/>
          <p:nvPr/>
        </p:nvSpPr>
        <p:spPr>
          <a:xfrm>
            <a:off x="8161694" y="0"/>
            <a:ext cx="40303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1664E-DEA7-7FB0-3A24-8F5C355D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16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C52F19-3372-FC03-FAD8-46FDEB021E29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0ADA8-5B25-94B3-8DC2-7F75F79FC7A5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8776F94-A43C-A72D-2F35-8837974FDFA5}"/>
              </a:ext>
            </a:extLst>
          </p:cNvPr>
          <p:cNvSpPr/>
          <p:nvPr/>
        </p:nvSpPr>
        <p:spPr>
          <a:xfrm>
            <a:off x="8292873" y="1323474"/>
            <a:ext cx="2551590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A09369-D52F-7E04-20A5-6D27AE8D5E3F}"/>
              </a:ext>
            </a:extLst>
          </p:cNvPr>
          <p:cNvSpPr txBox="1"/>
          <p:nvPr/>
        </p:nvSpPr>
        <p:spPr>
          <a:xfrm>
            <a:off x="8292873" y="1608530"/>
            <a:ext cx="25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آموزش مدل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58086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192C3-3D88-9D71-584D-4ED2949B8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2F7D2-A2C8-C2C5-4FBC-F869BC5C38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537" y="-1428379"/>
            <a:ext cx="17163701" cy="1335569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972AF86-2E5B-29B1-7B74-5E9A39BB5B36}"/>
              </a:ext>
            </a:extLst>
          </p:cNvPr>
          <p:cNvSpPr/>
          <p:nvPr/>
        </p:nvSpPr>
        <p:spPr>
          <a:xfrm>
            <a:off x="8161694" y="0"/>
            <a:ext cx="40303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682EE70-D61D-5334-74B0-8F319D7B3D7D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F9DBC-B5FD-33CC-82F5-C30F8202D3A4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C4C0F7-4BBC-CF3F-4D75-6E3F388030F9}"/>
              </a:ext>
            </a:extLst>
          </p:cNvPr>
          <p:cNvSpPr/>
          <p:nvPr/>
        </p:nvSpPr>
        <p:spPr>
          <a:xfrm>
            <a:off x="8292873" y="1323474"/>
            <a:ext cx="2551590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2C735D-2622-8206-9BCF-80284EAD0D28}"/>
              </a:ext>
            </a:extLst>
          </p:cNvPr>
          <p:cNvSpPr txBox="1"/>
          <p:nvPr/>
        </p:nvSpPr>
        <p:spPr>
          <a:xfrm>
            <a:off x="8292873" y="1608530"/>
            <a:ext cx="25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آموزش مدل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40487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A5E7CF-DFB1-5C0E-D6B0-7AE6CC16B8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76822" y="-1424052"/>
            <a:ext cx="15720559" cy="1223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B222CF-F68D-C6B3-45EA-A05831F3BBDE}"/>
              </a:ext>
            </a:extLst>
          </p:cNvPr>
          <p:cNvSpPr/>
          <p:nvPr/>
        </p:nvSpPr>
        <p:spPr>
          <a:xfrm>
            <a:off x="8161694" y="0"/>
            <a:ext cx="40303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2688AF-B069-42E0-1E63-934DE52BC443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6A341F-77D3-0A68-4C96-83B6F1D6963D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FCFE6-BC8E-AA07-9D57-B7475532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3737" y="6273629"/>
            <a:ext cx="2743200" cy="365125"/>
          </a:xfrm>
        </p:spPr>
        <p:txBody>
          <a:bodyPr/>
          <a:lstStyle/>
          <a:p>
            <a:pPr algn="r"/>
            <a:fld id="{25276947-FFA0-44F6-8F12-C0D461897C70}" type="slidenum">
              <a:rPr lang="en-US" smtClean="0"/>
              <a:pPr algn="r"/>
              <a:t>18</a:t>
            </a:fld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8C643E-BDA6-E8C5-EFD6-79BE14C16875}"/>
              </a:ext>
            </a:extLst>
          </p:cNvPr>
          <p:cNvSpPr/>
          <p:nvPr/>
        </p:nvSpPr>
        <p:spPr>
          <a:xfrm>
            <a:off x="8292873" y="1323474"/>
            <a:ext cx="2551590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C338F4-8FE2-3EDF-C4A8-ED91ECC6A483}"/>
              </a:ext>
            </a:extLst>
          </p:cNvPr>
          <p:cNvSpPr txBox="1"/>
          <p:nvPr/>
        </p:nvSpPr>
        <p:spPr>
          <a:xfrm>
            <a:off x="8292873" y="1608530"/>
            <a:ext cx="25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آموزش مدل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62280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005CB2-E994-13D3-6EFF-3055E2EA4C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967" y="-4792894"/>
            <a:ext cx="15720559" cy="1223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A6F04A-C219-A15C-55EC-D3436A32527C}"/>
              </a:ext>
            </a:extLst>
          </p:cNvPr>
          <p:cNvSpPr/>
          <p:nvPr/>
        </p:nvSpPr>
        <p:spPr>
          <a:xfrm>
            <a:off x="8161694" y="0"/>
            <a:ext cx="40303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E479E3-D0EB-3328-2585-04DF2F769EB8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7BA069-7A84-C029-E28E-DCE91963C161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C6031DE-45B6-E70C-D7A7-8516E0C1E86A}"/>
              </a:ext>
            </a:extLst>
          </p:cNvPr>
          <p:cNvSpPr/>
          <p:nvPr/>
        </p:nvSpPr>
        <p:spPr>
          <a:xfrm>
            <a:off x="8292873" y="1323474"/>
            <a:ext cx="2551590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0DDA5-2577-45B3-4E89-F1FD91D4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247" y="6152754"/>
            <a:ext cx="2743200" cy="365125"/>
          </a:xfrm>
        </p:spPr>
        <p:txBody>
          <a:bodyPr/>
          <a:lstStyle/>
          <a:p>
            <a:pPr algn="r"/>
            <a:fld id="{25276947-FFA0-44F6-8F12-C0D461897C70}" type="slidenum">
              <a:rPr lang="en-US" smtClean="0"/>
              <a:pPr algn="r"/>
              <a:t>19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C97455-0274-803B-EF08-37B57C05EA45}"/>
              </a:ext>
            </a:extLst>
          </p:cNvPr>
          <p:cNvSpPr txBox="1"/>
          <p:nvPr/>
        </p:nvSpPr>
        <p:spPr>
          <a:xfrm>
            <a:off x="8292873" y="1608530"/>
            <a:ext cx="25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آموزش مدل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04869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1CB040-8069-66B4-24E3-1EEAD11A27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28264" y="-4985398"/>
            <a:ext cx="15720559" cy="1223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9B97887-822C-580E-9FC0-48DC6AA541AE}"/>
              </a:ext>
            </a:extLst>
          </p:cNvPr>
          <p:cNvSpPr/>
          <p:nvPr/>
        </p:nvSpPr>
        <p:spPr>
          <a:xfrm>
            <a:off x="8161694" y="0"/>
            <a:ext cx="40303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F1A3AE-B136-5CE7-097B-5BBF044B1374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8CAC06-CA2D-452A-0AF6-0B4F581F109C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07921-1DFB-3A78-2E7E-ABD8F971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247" y="6170297"/>
            <a:ext cx="2743200" cy="365125"/>
          </a:xfrm>
        </p:spPr>
        <p:txBody>
          <a:bodyPr/>
          <a:lstStyle/>
          <a:p>
            <a:pPr algn="r"/>
            <a:fld id="{25276947-FFA0-44F6-8F12-C0D461897C70}" type="slidenum">
              <a:rPr lang="en-US" smtClean="0"/>
              <a:pPr algn="r"/>
              <a:t>20</a:t>
            </a:fld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5F560FB-D574-1E14-957E-3F8B4B438D3D}"/>
              </a:ext>
            </a:extLst>
          </p:cNvPr>
          <p:cNvSpPr/>
          <p:nvPr/>
        </p:nvSpPr>
        <p:spPr>
          <a:xfrm>
            <a:off x="8292873" y="1323474"/>
            <a:ext cx="2551590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7C613F-77E3-E46F-C93B-64A1981F08BB}"/>
              </a:ext>
            </a:extLst>
          </p:cNvPr>
          <p:cNvSpPr txBox="1"/>
          <p:nvPr/>
        </p:nvSpPr>
        <p:spPr>
          <a:xfrm>
            <a:off x="8292873" y="1608530"/>
            <a:ext cx="25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آموزش مدل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0748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3493B6-59B6-0DFB-B38E-AC28BFEBA7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11883" y="-6227546"/>
            <a:ext cx="15146622" cy="1178613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E4A7B09-5A25-26CF-C266-66C90E0B3942}"/>
              </a:ext>
            </a:extLst>
          </p:cNvPr>
          <p:cNvSpPr/>
          <p:nvPr/>
        </p:nvSpPr>
        <p:spPr>
          <a:xfrm>
            <a:off x="8161694" y="0"/>
            <a:ext cx="40303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F280F0-E1B7-31FF-2085-CC14B5EEB085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EFF32E-7C41-1CA6-CE14-3ABE05C82F7B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EE4A6-8AC3-27E0-87E1-9A4A7A3A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247" y="6170297"/>
            <a:ext cx="2743200" cy="365125"/>
          </a:xfrm>
        </p:spPr>
        <p:txBody>
          <a:bodyPr/>
          <a:lstStyle/>
          <a:p>
            <a:pPr algn="r"/>
            <a:fld id="{25276947-FFA0-44F6-8F12-C0D461897C70}" type="slidenum">
              <a:rPr lang="en-US" smtClean="0"/>
              <a:pPr algn="r"/>
              <a:t>21</a:t>
            </a:fld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F76557C-DF38-FA04-E0A5-36F65AF1B352}"/>
              </a:ext>
            </a:extLst>
          </p:cNvPr>
          <p:cNvSpPr/>
          <p:nvPr/>
        </p:nvSpPr>
        <p:spPr>
          <a:xfrm>
            <a:off x="8292873" y="1323474"/>
            <a:ext cx="2551590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6DD613-87AA-7399-CE7E-9281FA0A3EE9}"/>
              </a:ext>
            </a:extLst>
          </p:cNvPr>
          <p:cNvSpPr txBox="1"/>
          <p:nvPr/>
        </p:nvSpPr>
        <p:spPr>
          <a:xfrm>
            <a:off x="8292873" y="1608530"/>
            <a:ext cx="25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آموزش مدل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27279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687D6-3FBE-6A36-0815-FCA608E6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22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699AFB-0CDF-0F8D-B7F2-45F4FE6421B4}"/>
              </a:ext>
            </a:extLst>
          </p:cNvPr>
          <p:cNvSpPr/>
          <p:nvPr/>
        </p:nvSpPr>
        <p:spPr>
          <a:xfrm>
            <a:off x="8349916" y="0"/>
            <a:ext cx="384208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DE9BC8-4710-092E-94E0-420E3F74787B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B624C9-B4D3-B51E-B416-675CB0141203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06F8C4-252C-4682-5E28-00D27E4E5456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5057B4-E19F-B0EE-3669-45A8BE6C07DA}"/>
              </a:ext>
            </a:extLst>
          </p:cNvPr>
          <p:cNvSpPr txBox="1"/>
          <p:nvPr/>
        </p:nvSpPr>
        <p:spPr>
          <a:xfrm>
            <a:off x="11883718" y="-1722802"/>
            <a:ext cx="25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آموزش مدل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F3430F-9760-E972-DC0B-FD63D210080E}"/>
              </a:ext>
            </a:extLst>
          </p:cNvPr>
          <p:cNvSpPr txBox="1"/>
          <p:nvPr/>
        </p:nvSpPr>
        <p:spPr>
          <a:xfrm>
            <a:off x="8590547" y="1561225"/>
            <a:ext cx="2149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b="1" dirty="0">
                <a:cs typeface="B Nazanin" panose="00000400000000000000" pitchFamily="2" charset="-78"/>
              </a:rPr>
              <a:t>تب پیش‌بینی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B63E10E-FD2D-B304-4251-8981D2CBE2A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927" b="1180"/>
          <a:stretch>
            <a:fillRect/>
          </a:stretch>
        </p:blipFill>
        <p:spPr bwMode="auto">
          <a:xfrm>
            <a:off x="611154" y="433136"/>
            <a:ext cx="7594783" cy="592321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09436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C1875C0-389D-0B3E-09A1-89EC304CE6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927" b="1180"/>
          <a:stretch>
            <a:fillRect/>
          </a:stretch>
        </p:blipFill>
        <p:spPr bwMode="auto">
          <a:xfrm>
            <a:off x="1452259" y="-3297189"/>
            <a:ext cx="16569941" cy="129229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AFA1E-47F5-9F20-5BAD-5C623FAE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23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2BDBE6-1940-881A-EAAD-03AF7F4A4D6B}"/>
              </a:ext>
            </a:extLst>
          </p:cNvPr>
          <p:cNvSpPr/>
          <p:nvPr/>
        </p:nvSpPr>
        <p:spPr>
          <a:xfrm>
            <a:off x="8349916" y="0"/>
            <a:ext cx="384208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677B47-6A15-6166-40CB-F88F19009AEB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53B459-61DB-FC97-07C4-862D5F8409F4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EF5A89-5D12-020C-1C12-9D2C5348A4B7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F3CE28-AF6F-2D6E-2E99-BB411B6BAE11}"/>
              </a:ext>
            </a:extLst>
          </p:cNvPr>
          <p:cNvSpPr txBox="1"/>
          <p:nvPr/>
        </p:nvSpPr>
        <p:spPr>
          <a:xfrm>
            <a:off x="11883718" y="-1722802"/>
            <a:ext cx="25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آموزش مدل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761842-C08B-275C-250D-99E25673CC6E}"/>
              </a:ext>
            </a:extLst>
          </p:cNvPr>
          <p:cNvSpPr txBox="1"/>
          <p:nvPr/>
        </p:nvSpPr>
        <p:spPr>
          <a:xfrm>
            <a:off x="8590547" y="1561225"/>
            <a:ext cx="2149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b="1" dirty="0">
                <a:cs typeface="B Nazanin" panose="00000400000000000000" pitchFamily="2" charset="-78"/>
              </a:rPr>
              <a:t>تب پیش‌بینی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37837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E9C9E-C624-9C50-D87E-18A7EEB8F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022E40-4E5C-330C-7848-C7B0EF11D7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927" b="1180"/>
          <a:stretch>
            <a:fillRect/>
          </a:stretch>
        </p:blipFill>
        <p:spPr bwMode="auto">
          <a:xfrm>
            <a:off x="-2013997" y="-6299378"/>
            <a:ext cx="15173510" cy="1183390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EA0683-20B0-CD47-A75B-B4E4C659B27E}"/>
              </a:ext>
            </a:extLst>
          </p:cNvPr>
          <p:cNvSpPr/>
          <p:nvPr/>
        </p:nvSpPr>
        <p:spPr>
          <a:xfrm>
            <a:off x="8349916" y="0"/>
            <a:ext cx="384208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E9703C4-7F54-B2A3-2484-E7536EA621E9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9D6181-B85A-CD26-7D35-8F21DC49A55A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B88F4E-C89E-D336-7B74-5FDA9333CAA7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5B0916-EFDF-B87E-5664-5EA0D91B4591}"/>
              </a:ext>
            </a:extLst>
          </p:cNvPr>
          <p:cNvSpPr txBox="1"/>
          <p:nvPr/>
        </p:nvSpPr>
        <p:spPr>
          <a:xfrm>
            <a:off x="11883718" y="-1722802"/>
            <a:ext cx="25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تب آموزش مدل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84D67D-4FD5-737A-E98B-E25429CF8A4A}"/>
              </a:ext>
            </a:extLst>
          </p:cNvPr>
          <p:cNvSpPr txBox="1"/>
          <p:nvPr/>
        </p:nvSpPr>
        <p:spPr>
          <a:xfrm>
            <a:off x="8590547" y="1561225"/>
            <a:ext cx="2149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b="1" dirty="0">
                <a:cs typeface="B Nazanin" panose="00000400000000000000" pitchFamily="2" charset="-78"/>
              </a:rPr>
              <a:t>تب پیش‌بینی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78946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2B76C-2D51-4C73-1DD7-79200A11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D69A96-8442-232D-AB2C-F8426EC46AFE}"/>
              </a:ext>
            </a:extLst>
          </p:cNvPr>
          <p:cNvSpPr/>
          <p:nvPr/>
        </p:nvSpPr>
        <p:spPr>
          <a:xfrm>
            <a:off x="8349916" y="0"/>
            <a:ext cx="384208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C48541-81B8-58FC-85DD-21C3BF21EE78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A60B5A-6E5E-F20C-5736-B53A5B063158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952DCD-2EC4-38EF-E32B-C8D62EBBD319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0B55AE-17FA-31A2-EB88-7ADE8DBE0B0E}"/>
              </a:ext>
            </a:extLst>
          </p:cNvPr>
          <p:cNvSpPr txBox="1"/>
          <p:nvPr/>
        </p:nvSpPr>
        <p:spPr>
          <a:xfrm>
            <a:off x="13360711" y="-1278227"/>
            <a:ext cx="2149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b="1" dirty="0">
                <a:cs typeface="B Nazanin" panose="00000400000000000000" pitchFamily="2" charset="-78"/>
              </a:rPr>
              <a:t>تب پیش‌بینی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CF8A7-F93A-CF59-ABA2-57AF685ED041}"/>
              </a:ext>
            </a:extLst>
          </p:cNvPr>
          <p:cNvSpPr txBox="1"/>
          <p:nvPr/>
        </p:nvSpPr>
        <p:spPr>
          <a:xfrm>
            <a:off x="8662736" y="1600097"/>
            <a:ext cx="2169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ساختار پسین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D5E8BF-37B9-D2AF-04F7-4779AB56CC5E}"/>
              </a:ext>
            </a:extLst>
          </p:cNvPr>
          <p:cNvSpPr/>
          <p:nvPr/>
        </p:nvSpPr>
        <p:spPr>
          <a:xfrm>
            <a:off x="838200" y="532868"/>
            <a:ext cx="3252537" cy="152105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34F1DF-5667-8FF1-7497-53E9759BC533}"/>
              </a:ext>
            </a:extLst>
          </p:cNvPr>
          <p:cNvSpPr txBox="1"/>
          <p:nvPr/>
        </p:nvSpPr>
        <p:spPr>
          <a:xfrm>
            <a:off x="962525" y="693231"/>
            <a:ext cx="3003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رابط گرافیکی</a:t>
            </a:r>
            <a:br>
              <a:rPr lang="fa-IR" sz="3600" b="1" dirty="0">
                <a:cs typeface="B Nazanin" panose="00000400000000000000" pitchFamily="2" charset="-78"/>
              </a:rPr>
            </a:br>
            <a:r>
              <a:rPr lang="fa-IR" sz="3600" b="1" dirty="0">
                <a:cs typeface="B Nazanin" panose="00000400000000000000" pitchFamily="2" charset="-78"/>
              </a:rPr>
              <a:t>(کلاس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Ui_Form</a:t>
            </a:r>
            <a:r>
              <a:rPr lang="fa-IR" sz="3600" b="1" dirty="0">
                <a:cs typeface="B Nazanin" panose="00000400000000000000" pitchFamily="2" charset="-78"/>
              </a:rPr>
              <a:t>)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0A5E036-68A2-F74C-20FC-2C82012FE3D1}"/>
              </a:ext>
            </a:extLst>
          </p:cNvPr>
          <p:cNvSpPr/>
          <p:nvPr/>
        </p:nvSpPr>
        <p:spPr>
          <a:xfrm>
            <a:off x="838200" y="4333299"/>
            <a:ext cx="3252537" cy="152105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58D32C-1897-7FDF-D7AC-2545589444F0}"/>
              </a:ext>
            </a:extLst>
          </p:cNvPr>
          <p:cNvSpPr/>
          <p:nvPr/>
        </p:nvSpPr>
        <p:spPr>
          <a:xfrm>
            <a:off x="4792579" y="2496300"/>
            <a:ext cx="3252537" cy="1521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D4DE1C-B111-A3EF-A9DC-DEE294103B14}"/>
              </a:ext>
            </a:extLst>
          </p:cNvPr>
          <p:cNvSpPr txBox="1"/>
          <p:nvPr/>
        </p:nvSpPr>
        <p:spPr>
          <a:xfrm>
            <a:off x="4916904" y="2933662"/>
            <a:ext cx="3003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شروع نرم‌افزار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E6120981-2FC4-30D2-3323-16DEE78A2B4F}"/>
              </a:ext>
            </a:extLst>
          </p:cNvPr>
          <p:cNvCxnSpPr>
            <a:cxnSpLocks/>
            <a:stCxn id="19" idx="2"/>
            <a:endCxn id="23" idx="1"/>
          </p:cNvCxnSpPr>
          <p:nvPr/>
        </p:nvCxnSpPr>
        <p:spPr>
          <a:xfrm rot="16200000" flipH="1">
            <a:off x="3027072" y="1491321"/>
            <a:ext cx="1202904" cy="2328110"/>
          </a:xfrm>
          <a:prstGeom prst="curvedConnector2">
            <a:avLst/>
          </a:prstGeom>
          <a:ln w="635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2409808E-17B1-AE47-EA5F-7BC07DF2CEF9}"/>
              </a:ext>
            </a:extLst>
          </p:cNvPr>
          <p:cNvCxnSpPr>
            <a:cxnSpLocks/>
            <a:stCxn id="21" idx="0"/>
            <a:endCxn id="23" idx="1"/>
          </p:cNvCxnSpPr>
          <p:nvPr/>
        </p:nvCxnSpPr>
        <p:spPr>
          <a:xfrm rot="5400000" flipH="1" flipV="1">
            <a:off x="3090289" y="2631009"/>
            <a:ext cx="1076471" cy="2328110"/>
          </a:xfrm>
          <a:prstGeom prst="curvedConnector2">
            <a:avLst/>
          </a:prstGeom>
          <a:ln w="635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1A78AAB-56E6-0AE9-E627-47A07B10DD0D}"/>
              </a:ext>
            </a:extLst>
          </p:cNvPr>
          <p:cNvSpPr txBox="1"/>
          <p:nvPr/>
        </p:nvSpPr>
        <p:spPr>
          <a:xfrm>
            <a:off x="962524" y="4493663"/>
            <a:ext cx="3003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منطق نرم‌افزار</a:t>
            </a:r>
            <a:endParaRPr lang="en-US" sz="3600" b="1" dirty="0">
              <a:cs typeface="B Nazanin" panose="00000400000000000000" pitchFamily="2" charset="-78"/>
            </a:endParaRPr>
          </a:p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fa-IR" sz="3600" b="1" dirty="0">
                <a:cs typeface="B Nazanin" panose="00000400000000000000" pitchFamily="2" charset="-78"/>
              </a:rPr>
              <a:t>)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6200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 animBg="1"/>
      <p:bldP spid="23" grpId="0" animBg="1"/>
      <p:bldP spid="24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36958-F1F6-DD36-E1B6-6DE4CC9F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26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0BB509-0AD7-D8FD-923D-D8C37C5D93A0}"/>
              </a:ext>
            </a:extLst>
          </p:cNvPr>
          <p:cNvSpPr/>
          <p:nvPr/>
        </p:nvSpPr>
        <p:spPr>
          <a:xfrm>
            <a:off x="8349916" y="0"/>
            <a:ext cx="384208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2E623A-46D2-64D3-5399-341BC2C518FE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AE6DA-755D-4A09-BFFF-7B752C5AFBE4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BFC975-ABB1-750E-F599-8348CEA0AC85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26970C-2F71-FA4A-20F1-72EDF0FA3558}"/>
              </a:ext>
            </a:extLst>
          </p:cNvPr>
          <p:cNvSpPr txBox="1"/>
          <p:nvPr/>
        </p:nvSpPr>
        <p:spPr>
          <a:xfrm>
            <a:off x="8662736" y="1600097"/>
            <a:ext cx="2169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ساختار پسین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17A04E-8059-73D6-EC3A-7131E98965EB}"/>
              </a:ext>
            </a:extLst>
          </p:cNvPr>
          <p:cNvSpPr/>
          <p:nvPr/>
        </p:nvSpPr>
        <p:spPr>
          <a:xfrm>
            <a:off x="-3388894" y="839569"/>
            <a:ext cx="3252537" cy="152105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F62809-4EEF-9D8A-CD05-D90C8FD15D6E}"/>
              </a:ext>
            </a:extLst>
          </p:cNvPr>
          <p:cNvSpPr txBox="1"/>
          <p:nvPr/>
        </p:nvSpPr>
        <p:spPr>
          <a:xfrm>
            <a:off x="-3264569" y="999932"/>
            <a:ext cx="3003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رابط گرافیکی</a:t>
            </a:r>
            <a:br>
              <a:rPr lang="fa-IR" sz="3600" b="1" dirty="0">
                <a:cs typeface="B Nazanin" panose="00000400000000000000" pitchFamily="2" charset="-78"/>
              </a:rPr>
            </a:br>
            <a:r>
              <a:rPr lang="fa-IR" sz="3600" b="1" dirty="0">
                <a:cs typeface="B Nazanin" panose="00000400000000000000" pitchFamily="2" charset="-78"/>
              </a:rPr>
              <a:t>(کلاس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Ui_Form</a:t>
            </a:r>
            <a:r>
              <a:rPr lang="fa-IR" sz="3600" b="1" dirty="0">
                <a:cs typeface="B Nazanin" panose="00000400000000000000" pitchFamily="2" charset="-78"/>
              </a:rPr>
              <a:t>)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FC36D2-C2BD-5040-B2F1-76859F64AA23}"/>
              </a:ext>
            </a:extLst>
          </p:cNvPr>
          <p:cNvSpPr/>
          <p:nvPr/>
        </p:nvSpPr>
        <p:spPr>
          <a:xfrm>
            <a:off x="-3388894" y="4640000"/>
            <a:ext cx="3252537" cy="152105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4C2544-8429-D271-16C8-E38D988F545D}"/>
              </a:ext>
            </a:extLst>
          </p:cNvPr>
          <p:cNvSpPr txBox="1"/>
          <p:nvPr/>
        </p:nvSpPr>
        <p:spPr>
          <a:xfrm>
            <a:off x="-3264569" y="4812669"/>
            <a:ext cx="3003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منطق نرم‌افزار</a:t>
            </a:r>
            <a:endParaRPr lang="en-US" sz="3600" b="1" dirty="0">
              <a:cs typeface="B Nazanin" panose="00000400000000000000" pitchFamily="2" charset="-78"/>
            </a:endParaRPr>
          </a:p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fa-IR" sz="3600" b="1" dirty="0">
                <a:cs typeface="B Nazanin" panose="00000400000000000000" pitchFamily="2" charset="-78"/>
              </a:rPr>
              <a:t>)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25D669-9A1E-06B8-45A6-BBC23B04276F}"/>
              </a:ext>
            </a:extLst>
          </p:cNvPr>
          <p:cNvSpPr/>
          <p:nvPr/>
        </p:nvSpPr>
        <p:spPr>
          <a:xfrm>
            <a:off x="565485" y="2803001"/>
            <a:ext cx="3252537" cy="1521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8F0ACF-EFE7-C9CC-DB56-C2BE6F7BACD5}"/>
              </a:ext>
            </a:extLst>
          </p:cNvPr>
          <p:cNvSpPr txBox="1"/>
          <p:nvPr/>
        </p:nvSpPr>
        <p:spPr>
          <a:xfrm>
            <a:off x="689810" y="3240363"/>
            <a:ext cx="3003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شروع نرم‌افزار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974C363-4019-7FE1-62CD-85738E33AB66}"/>
              </a:ext>
            </a:extLst>
          </p:cNvPr>
          <p:cNvCxnSpPr>
            <a:cxnSpLocks/>
            <a:stCxn id="10" idx="2"/>
            <a:endCxn id="14" idx="1"/>
          </p:cNvCxnSpPr>
          <p:nvPr/>
        </p:nvCxnSpPr>
        <p:spPr>
          <a:xfrm rot="16200000" flipH="1">
            <a:off x="-1200022" y="1798022"/>
            <a:ext cx="1202904" cy="2328110"/>
          </a:xfrm>
          <a:prstGeom prst="curvedConnector2">
            <a:avLst/>
          </a:prstGeom>
          <a:ln w="635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7E8A8AB5-1CE1-75E2-39D0-E6E469884935}"/>
              </a:ext>
            </a:extLst>
          </p:cNvPr>
          <p:cNvCxnSpPr>
            <a:cxnSpLocks/>
            <a:stCxn id="12" idx="0"/>
            <a:endCxn id="14" idx="1"/>
          </p:cNvCxnSpPr>
          <p:nvPr/>
        </p:nvCxnSpPr>
        <p:spPr>
          <a:xfrm rot="5400000" flipH="1" flipV="1">
            <a:off x="-1136805" y="2937710"/>
            <a:ext cx="1076471" cy="2328110"/>
          </a:xfrm>
          <a:prstGeom prst="curvedConnector2">
            <a:avLst/>
          </a:prstGeom>
          <a:ln w="635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A324A4-9D83-EBFE-727B-8F74DFE1AB96}"/>
              </a:ext>
            </a:extLst>
          </p:cNvPr>
          <p:cNvSpPr/>
          <p:nvPr/>
        </p:nvSpPr>
        <p:spPr>
          <a:xfrm>
            <a:off x="5530512" y="195763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B7713D-924A-558D-0094-0C5C96A92BDF}"/>
              </a:ext>
            </a:extLst>
          </p:cNvPr>
          <p:cNvSpPr/>
          <p:nvPr/>
        </p:nvSpPr>
        <p:spPr>
          <a:xfrm>
            <a:off x="5518481" y="1341569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data_processor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143D5FD-2736-075C-E7D9-56F5408F5FBB}"/>
              </a:ext>
            </a:extLst>
          </p:cNvPr>
          <p:cNvSpPr/>
          <p:nvPr/>
        </p:nvSpPr>
        <p:spPr>
          <a:xfrm>
            <a:off x="5518481" y="2487375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1C6A88C-C9AC-29DA-D664-9508A1CCDF25}"/>
              </a:ext>
            </a:extLst>
          </p:cNvPr>
          <p:cNvSpPr/>
          <p:nvPr/>
        </p:nvSpPr>
        <p:spPr>
          <a:xfrm>
            <a:off x="5474366" y="3633181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output_form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C382F4-0AE8-42A3-ACBA-64B7EA0A1A2A}"/>
              </a:ext>
            </a:extLst>
          </p:cNvPr>
          <p:cNvSpPr/>
          <p:nvPr/>
        </p:nvSpPr>
        <p:spPr>
          <a:xfrm>
            <a:off x="5474366" y="4778987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BEEF595-5892-A9CA-5D9A-28DFEFCF2F75}"/>
              </a:ext>
            </a:extLst>
          </p:cNvPr>
          <p:cNvSpPr/>
          <p:nvPr/>
        </p:nvSpPr>
        <p:spPr>
          <a:xfrm>
            <a:off x="5462333" y="5924793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trained_models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CA5EC098-969F-74EE-4E68-6CDEB319C9F4}"/>
              </a:ext>
            </a:extLst>
          </p:cNvPr>
          <p:cNvSpPr/>
          <p:nvPr/>
        </p:nvSpPr>
        <p:spPr>
          <a:xfrm rot="10800000">
            <a:off x="3818019" y="239540"/>
            <a:ext cx="3184351" cy="6378919"/>
          </a:xfrm>
          <a:prstGeom prst="arc">
            <a:avLst>
              <a:gd name="adj1" fmla="val 16225750"/>
              <a:gd name="adj2" fmla="val 5345159"/>
            </a:avLst>
          </a:prstGeom>
          <a:ln w="60325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52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3194CE-CBC6-486E-614F-E5D59A92D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8" y="112462"/>
            <a:ext cx="13839138" cy="200007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B69B78A-AF83-409D-AF66-3B0890B3FC43}"/>
              </a:ext>
            </a:extLst>
          </p:cNvPr>
          <p:cNvSpPr/>
          <p:nvPr/>
        </p:nvSpPr>
        <p:spPr>
          <a:xfrm>
            <a:off x="8349916" y="0"/>
            <a:ext cx="384208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D941A9-02C6-93FD-3887-4EB53AFA769D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45F7E2-644C-6111-A852-7C5CD8602F9E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8E8508-A761-24EB-89CF-DA074A8CF41E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964AC-E831-102F-A9DE-AE953614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27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F8AD9E-0C34-FC4B-554E-37B2E145AE3A}"/>
              </a:ext>
            </a:extLst>
          </p:cNvPr>
          <p:cNvSpPr txBox="1"/>
          <p:nvPr/>
        </p:nvSpPr>
        <p:spPr>
          <a:xfrm>
            <a:off x="8662736" y="1600097"/>
            <a:ext cx="2169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ساختار پسین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73EEBCD-34F7-328E-9538-2A0368A2CC58}"/>
              </a:ext>
            </a:extLst>
          </p:cNvPr>
          <p:cNvSpPr/>
          <p:nvPr/>
        </p:nvSpPr>
        <p:spPr>
          <a:xfrm>
            <a:off x="-7664108" y="2803001"/>
            <a:ext cx="3252537" cy="15210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23B1F3-CF14-6E1B-CE0D-9755A7EBC732}"/>
              </a:ext>
            </a:extLst>
          </p:cNvPr>
          <p:cNvSpPr txBox="1"/>
          <p:nvPr/>
        </p:nvSpPr>
        <p:spPr>
          <a:xfrm>
            <a:off x="-7539783" y="3240363"/>
            <a:ext cx="3003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شروع نرم‌افزار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A2611205-8963-5A9B-CD3A-67F68B28250C}"/>
              </a:ext>
            </a:extLst>
          </p:cNvPr>
          <p:cNvCxnSpPr>
            <a:cxnSpLocks/>
            <a:endCxn id="32" idx="1"/>
          </p:cNvCxnSpPr>
          <p:nvPr/>
        </p:nvCxnSpPr>
        <p:spPr>
          <a:xfrm rot="16200000" flipH="1">
            <a:off x="-9429615" y="1798022"/>
            <a:ext cx="1202904" cy="2328110"/>
          </a:xfrm>
          <a:prstGeom prst="curvedConnector2">
            <a:avLst/>
          </a:prstGeom>
          <a:ln w="635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76DE667B-6D8F-DF75-B449-83A5E8277D1C}"/>
              </a:ext>
            </a:extLst>
          </p:cNvPr>
          <p:cNvCxnSpPr>
            <a:cxnSpLocks/>
            <a:endCxn id="32" idx="1"/>
          </p:cNvCxnSpPr>
          <p:nvPr/>
        </p:nvCxnSpPr>
        <p:spPr>
          <a:xfrm rot="5400000" flipH="1" flipV="1">
            <a:off x="-9366398" y="2937710"/>
            <a:ext cx="1076471" cy="2328110"/>
          </a:xfrm>
          <a:prstGeom prst="curvedConnector2">
            <a:avLst/>
          </a:prstGeom>
          <a:ln w="635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06040A1-3803-1122-6A35-42231F097BFC}"/>
              </a:ext>
            </a:extLst>
          </p:cNvPr>
          <p:cNvSpPr/>
          <p:nvPr/>
        </p:nvSpPr>
        <p:spPr>
          <a:xfrm>
            <a:off x="-2699081" y="195763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CEEEDFB-6EE2-FFCB-784D-9F3348567585}"/>
              </a:ext>
            </a:extLst>
          </p:cNvPr>
          <p:cNvSpPr/>
          <p:nvPr/>
        </p:nvSpPr>
        <p:spPr>
          <a:xfrm>
            <a:off x="-2711112" y="1341569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data_processor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68734EC-997D-85CD-AC2C-2A07ED3AF13F}"/>
              </a:ext>
            </a:extLst>
          </p:cNvPr>
          <p:cNvSpPr/>
          <p:nvPr/>
        </p:nvSpPr>
        <p:spPr>
          <a:xfrm>
            <a:off x="-2711112" y="2487375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682C0C7-7E6A-FAB1-BDC2-7A33B7E536F3}"/>
              </a:ext>
            </a:extLst>
          </p:cNvPr>
          <p:cNvSpPr/>
          <p:nvPr/>
        </p:nvSpPr>
        <p:spPr>
          <a:xfrm>
            <a:off x="-2755227" y="3633181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output_form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C8318DC-88BE-B127-107F-A3801D08A18A}"/>
              </a:ext>
            </a:extLst>
          </p:cNvPr>
          <p:cNvSpPr/>
          <p:nvPr/>
        </p:nvSpPr>
        <p:spPr>
          <a:xfrm>
            <a:off x="-2755227" y="4778987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82EF6B9-AE14-3E8E-00D5-ED77654C1E29}"/>
              </a:ext>
            </a:extLst>
          </p:cNvPr>
          <p:cNvSpPr/>
          <p:nvPr/>
        </p:nvSpPr>
        <p:spPr>
          <a:xfrm>
            <a:off x="-2767260" y="5924793"/>
            <a:ext cx="2430378" cy="7605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trained_models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325CFB09-6077-19E8-A781-DB17B4A18EC2}"/>
              </a:ext>
            </a:extLst>
          </p:cNvPr>
          <p:cNvSpPr/>
          <p:nvPr/>
        </p:nvSpPr>
        <p:spPr>
          <a:xfrm rot="10800000">
            <a:off x="-4411574" y="239540"/>
            <a:ext cx="3184351" cy="6378919"/>
          </a:xfrm>
          <a:prstGeom prst="arc">
            <a:avLst>
              <a:gd name="adj1" fmla="val 16225750"/>
              <a:gd name="adj2" fmla="val 5345159"/>
            </a:avLst>
          </a:prstGeom>
          <a:ln w="60325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9DD2241-481F-7153-B498-D6A830EB09F8}"/>
              </a:ext>
            </a:extLst>
          </p:cNvPr>
          <p:cNvSpPr/>
          <p:nvPr/>
        </p:nvSpPr>
        <p:spPr>
          <a:xfrm>
            <a:off x="838200" y="2294555"/>
            <a:ext cx="1876927" cy="5704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بارگزاری به صورت پویا (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importlib.util</a:t>
            </a:r>
            <a:r>
              <a:rPr lang="fa-IR" b="1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)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91878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842E9E-9E64-B11A-80FC-9CC655132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0508" y="-6335487"/>
            <a:ext cx="13329443" cy="192640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BC0279-70AF-9891-6914-49D40D2E94DB}"/>
              </a:ext>
            </a:extLst>
          </p:cNvPr>
          <p:cNvSpPr/>
          <p:nvPr/>
        </p:nvSpPr>
        <p:spPr>
          <a:xfrm>
            <a:off x="8349916" y="0"/>
            <a:ext cx="384208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E8F895-E8A6-EC53-2DDC-0F1694071FE8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F39827-265D-518B-3148-9CA6F015F21D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AA277A-376A-537A-1F79-3E8B7AE9DF30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DD7830-3976-7EE4-D73F-1B4460BF2504}"/>
              </a:ext>
            </a:extLst>
          </p:cNvPr>
          <p:cNvSpPr txBox="1"/>
          <p:nvPr/>
        </p:nvSpPr>
        <p:spPr>
          <a:xfrm>
            <a:off x="8662736" y="1600097"/>
            <a:ext cx="2169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ساختار پسین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51915-75D1-B977-9277-FD795FAB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28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265D01-D273-7DF0-06B9-6DA78BD4DB47}"/>
              </a:ext>
            </a:extLst>
          </p:cNvPr>
          <p:cNvSpPr/>
          <p:nvPr/>
        </p:nvSpPr>
        <p:spPr>
          <a:xfrm>
            <a:off x="1425487" y="2210334"/>
            <a:ext cx="1876927" cy="5704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پر کردن داده‌های گم شده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20405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169AD8-7649-F1BD-3F46-1156D167D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74654" y="-13389430"/>
            <a:ext cx="13467539" cy="194636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A8A6054-D0AB-EDED-FAF1-051D33F7F8CA}"/>
              </a:ext>
            </a:extLst>
          </p:cNvPr>
          <p:cNvSpPr/>
          <p:nvPr/>
        </p:nvSpPr>
        <p:spPr>
          <a:xfrm>
            <a:off x="8349916" y="0"/>
            <a:ext cx="384208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00665B-31CA-4EC4-38EC-DDAF440ED9F8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B27B5A-6374-3D07-7D37-0FDAE3958C98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CA3054F-802C-C466-CD29-E6309418C8F6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0FBB3-5F5A-3A3F-2899-761C1863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29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F886CE-2994-7954-A532-B540340F4096}"/>
              </a:ext>
            </a:extLst>
          </p:cNvPr>
          <p:cNvSpPr txBox="1"/>
          <p:nvPr/>
        </p:nvSpPr>
        <p:spPr>
          <a:xfrm>
            <a:off x="8662736" y="1600097"/>
            <a:ext cx="2169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ساختار پسین</a:t>
            </a:r>
            <a:endParaRPr lang="en-US" sz="36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32352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C31AC-9AF5-8F2E-99F6-A39F2211C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30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BEFB7-DC30-A254-BF94-B9FB10269024}"/>
              </a:ext>
            </a:extLst>
          </p:cNvPr>
          <p:cNvSpPr/>
          <p:nvPr/>
        </p:nvSpPr>
        <p:spPr>
          <a:xfrm>
            <a:off x="8289347" y="22726"/>
            <a:ext cx="384208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4AC3D5-2918-9D9F-39B2-E6BACD2E25CD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0F361-A7BC-6880-2322-8288C021E614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BB1651-1D7B-05CC-4574-216D6E3E0166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28530D-7326-8B85-90A2-578B2D40A7A5}"/>
              </a:ext>
            </a:extLst>
          </p:cNvPr>
          <p:cNvSpPr txBox="1"/>
          <p:nvPr/>
        </p:nvSpPr>
        <p:spPr>
          <a:xfrm>
            <a:off x="13787186" y="-1943203"/>
            <a:ext cx="2169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ساختار پسین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16420B-1AF3-1843-DF18-CA0B169228BB}"/>
              </a:ext>
            </a:extLst>
          </p:cNvPr>
          <p:cNvSpPr txBox="1"/>
          <p:nvPr/>
        </p:nvSpPr>
        <p:spPr>
          <a:xfrm>
            <a:off x="8590547" y="1578270"/>
            <a:ext cx="2253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مطالعه موردی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36" name="Cylinder 35">
            <a:extLst>
              <a:ext uri="{FF2B5EF4-FFF2-40B4-BE49-F238E27FC236}">
                <a16:creationId xmlns:a16="http://schemas.microsoft.com/office/drawing/2014/main" id="{20942705-DB48-359F-6BBF-9D44B0FDA391}"/>
              </a:ext>
            </a:extLst>
          </p:cNvPr>
          <p:cNvSpPr/>
          <p:nvPr/>
        </p:nvSpPr>
        <p:spPr>
          <a:xfrm>
            <a:off x="232013" y="136525"/>
            <a:ext cx="1542197" cy="2006221"/>
          </a:xfrm>
          <a:prstGeom prst="can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anose="00000400000000000000" pitchFamily="2" charset="-78"/>
              </a:rPr>
              <a:t>سیلو ساچمه سرب</a:t>
            </a:r>
            <a:endParaRPr lang="en-US" sz="2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0AE0118A-8B4A-558D-5C14-CF555283B9F5}"/>
              </a:ext>
            </a:extLst>
          </p:cNvPr>
          <p:cNvSpPr/>
          <p:nvPr/>
        </p:nvSpPr>
        <p:spPr>
          <a:xfrm rot="5400000">
            <a:off x="2467908" y="1399706"/>
            <a:ext cx="2495555" cy="4285256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BB7411-A03A-E9D4-8D63-D3DC275D94C4}"/>
              </a:ext>
            </a:extLst>
          </p:cNvPr>
          <p:cNvSpPr txBox="1"/>
          <p:nvPr/>
        </p:nvSpPr>
        <p:spPr>
          <a:xfrm>
            <a:off x="2926203" y="3280724"/>
            <a:ext cx="1392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800" b="1" dirty="0">
                <a:cs typeface="B Nazanin" panose="00000400000000000000" pitchFamily="2" charset="-78"/>
              </a:rPr>
              <a:t>بالمیل</a:t>
            </a:r>
            <a:endParaRPr lang="en-US" b="1" dirty="0">
              <a:cs typeface="B Nazanin" panose="00000400000000000000" pitchFamily="2" charset="-78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27E5710-EA7C-FD38-9EC4-5DD8333A062B}"/>
              </a:ext>
            </a:extLst>
          </p:cNvPr>
          <p:cNvSpPr/>
          <p:nvPr/>
        </p:nvSpPr>
        <p:spPr>
          <a:xfrm>
            <a:off x="6354293" y="3069955"/>
            <a:ext cx="1291842" cy="94740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>
                <a:solidFill>
                  <a:schemeClr val="tx1"/>
                </a:solidFill>
                <a:cs typeface="B Nazanin" panose="00000400000000000000" pitchFamily="2" charset="-78"/>
              </a:rPr>
              <a:t>مکنده</a:t>
            </a:r>
            <a:endParaRPr lang="en-US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809577EB-E6BF-FE57-BE7A-BDD90AEC7F55}"/>
              </a:ext>
            </a:extLst>
          </p:cNvPr>
          <p:cNvCxnSpPr>
            <a:cxnSpLocks/>
            <a:stCxn id="36" idx="3"/>
            <a:endCxn id="37" idx="3"/>
          </p:cNvCxnSpPr>
          <p:nvPr/>
        </p:nvCxnSpPr>
        <p:spPr>
          <a:xfrm rot="16200000" flipH="1">
            <a:off x="588291" y="2557567"/>
            <a:ext cx="1399589" cy="569946"/>
          </a:xfrm>
          <a:prstGeom prst="curvedConnector2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690CA515-9293-E165-2C73-06A23C033F3A}"/>
              </a:ext>
            </a:extLst>
          </p:cNvPr>
          <p:cNvSpPr/>
          <p:nvPr/>
        </p:nvSpPr>
        <p:spPr>
          <a:xfrm>
            <a:off x="495250" y="4879789"/>
            <a:ext cx="1278960" cy="137158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anose="00000400000000000000" pitchFamily="2" charset="-78"/>
              </a:rPr>
              <a:t>دمنده هوا</a:t>
            </a:r>
            <a:endParaRPr lang="en-US" sz="2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D9DD3575-E9A6-E3A3-67A4-FCED2D7FD9A0}"/>
              </a:ext>
            </a:extLst>
          </p:cNvPr>
          <p:cNvCxnSpPr>
            <a:cxnSpLocks/>
            <a:stCxn id="51" idx="0"/>
            <a:endCxn id="37" idx="3"/>
          </p:cNvCxnSpPr>
          <p:nvPr/>
        </p:nvCxnSpPr>
        <p:spPr>
          <a:xfrm rot="5400000" flipH="1" flipV="1">
            <a:off x="685167" y="3991898"/>
            <a:ext cx="1337454" cy="438328"/>
          </a:xfrm>
          <a:prstGeom prst="curvedConnector2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C1B9D30-DDE1-1905-9763-44ED7685600E}"/>
              </a:ext>
            </a:extLst>
          </p:cNvPr>
          <p:cNvCxnSpPr>
            <a:stCxn id="37" idx="1"/>
            <a:endCxn id="43" idx="2"/>
          </p:cNvCxnSpPr>
          <p:nvPr/>
        </p:nvCxnSpPr>
        <p:spPr>
          <a:xfrm>
            <a:off x="5858314" y="3542335"/>
            <a:ext cx="495979" cy="132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ylinder 56">
            <a:extLst>
              <a:ext uri="{FF2B5EF4-FFF2-40B4-BE49-F238E27FC236}">
                <a16:creationId xmlns:a16="http://schemas.microsoft.com/office/drawing/2014/main" id="{04E1E76E-170F-65CD-667C-475F0AF9F3D0}"/>
              </a:ext>
            </a:extLst>
          </p:cNvPr>
          <p:cNvSpPr/>
          <p:nvPr/>
        </p:nvSpPr>
        <p:spPr>
          <a:xfrm>
            <a:off x="8191646" y="2842540"/>
            <a:ext cx="1218324" cy="3152605"/>
          </a:xfrm>
          <a:prstGeom prst="ca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>
                <a:solidFill>
                  <a:schemeClr val="tx1"/>
                </a:solidFill>
                <a:cs typeface="B Nazanin" panose="00000400000000000000" pitchFamily="2" charset="-78"/>
              </a:rPr>
              <a:t>ذخیره سازی اکسید سرب</a:t>
            </a:r>
            <a:endParaRPr lang="en-US" sz="28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9D3B6EB6-93EC-19CB-601C-0D0F3DB78DB6}"/>
              </a:ext>
            </a:extLst>
          </p:cNvPr>
          <p:cNvCxnSpPr>
            <a:stCxn id="43" idx="6"/>
            <a:endCxn id="57" idx="2"/>
          </p:cNvCxnSpPr>
          <p:nvPr/>
        </p:nvCxnSpPr>
        <p:spPr>
          <a:xfrm>
            <a:off x="7646135" y="3543656"/>
            <a:ext cx="545511" cy="875187"/>
          </a:xfrm>
          <a:prstGeom prst="curvedConnector3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725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/>
      <p:bldP spid="43" grpId="0" animBg="1"/>
      <p:bldP spid="51" grpId="0" animBg="1"/>
      <p:bldP spid="5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11449-DE01-DC75-6AE5-2E42618E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7948D-3DB4-5AA7-DF0D-F3C50CEB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31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6202F9-044C-A0CD-0177-8F08A5C616CB}"/>
              </a:ext>
            </a:extLst>
          </p:cNvPr>
          <p:cNvSpPr/>
          <p:nvPr/>
        </p:nvSpPr>
        <p:spPr>
          <a:xfrm>
            <a:off x="8289347" y="22726"/>
            <a:ext cx="384208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869406-059D-7FBF-B097-BAE0E7D8A90E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287C5B-CE88-D67E-7D94-E553A17A2139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AAA50F-8E81-07A8-2010-E8A9A548D7BF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21168-9615-A177-62C1-83FC159606D9}"/>
              </a:ext>
            </a:extLst>
          </p:cNvPr>
          <p:cNvSpPr txBox="1"/>
          <p:nvPr/>
        </p:nvSpPr>
        <p:spPr>
          <a:xfrm>
            <a:off x="13787186" y="-1943203"/>
            <a:ext cx="2169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ساختار پسین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146C77-43C4-B685-BBC2-113697E6885C}"/>
              </a:ext>
            </a:extLst>
          </p:cNvPr>
          <p:cNvSpPr txBox="1"/>
          <p:nvPr/>
        </p:nvSpPr>
        <p:spPr>
          <a:xfrm>
            <a:off x="8590547" y="1578270"/>
            <a:ext cx="2253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مطالعه موردی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BA0EB40-F62F-7C0F-B83B-CE514DF8BB5C}"/>
              </a:ext>
            </a:extLst>
          </p:cNvPr>
          <p:cNvSpPr/>
          <p:nvPr/>
        </p:nvSpPr>
        <p:spPr>
          <a:xfrm>
            <a:off x="1003158" y="602471"/>
            <a:ext cx="2190750" cy="97579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b="1" dirty="0">
                <a:cs typeface="B Nazanin" panose="00000400000000000000" pitchFamily="2" charset="-78"/>
              </a:rPr>
              <a:t>شرکت وایا باتری صدرا</a:t>
            </a:r>
            <a:endParaRPr lang="en-US" sz="2800" b="1" dirty="0">
              <a:cs typeface="B Nazanin" panose="00000400000000000000" pitchFamily="2" charset="-7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E28615-DA4A-C0C3-1F91-67FE13539C8E}"/>
              </a:ext>
            </a:extLst>
          </p:cNvPr>
          <p:cNvSpPr/>
          <p:nvPr/>
        </p:nvSpPr>
        <p:spPr>
          <a:xfrm>
            <a:off x="1007144" y="2476500"/>
            <a:ext cx="1581150" cy="14287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E71850-1E69-5A34-F341-C76083A4DECE}"/>
              </a:ext>
            </a:extLst>
          </p:cNvPr>
          <p:cNvSpPr/>
          <p:nvPr/>
        </p:nvSpPr>
        <p:spPr>
          <a:xfrm>
            <a:off x="1159544" y="2628900"/>
            <a:ext cx="1581150" cy="1428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5BF34E-79EB-24AB-D05C-049B34D06BB7}"/>
              </a:ext>
            </a:extLst>
          </p:cNvPr>
          <p:cNvSpPr/>
          <p:nvPr/>
        </p:nvSpPr>
        <p:spPr>
          <a:xfrm>
            <a:off x="1311944" y="2781300"/>
            <a:ext cx="1581150" cy="14287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46 فایل اکسل (مهر 1404)</a:t>
            </a:r>
            <a:endParaRPr lang="en-US" sz="2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276CFA-4CF4-03D1-F27E-01DEED8597C9}"/>
              </a:ext>
            </a:extLst>
          </p:cNvPr>
          <p:cNvSpPr/>
          <p:nvPr/>
        </p:nvSpPr>
        <p:spPr>
          <a:xfrm>
            <a:off x="4182604" y="2474495"/>
            <a:ext cx="1581150" cy="14287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181804-EE30-BB77-73DD-596D445DFC03}"/>
              </a:ext>
            </a:extLst>
          </p:cNvPr>
          <p:cNvSpPr/>
          <p:nvPr/>
        </p:nvSpPr>
        <p:spPr>
          <a:xfrm>
            <a:off x="4335004" y="2626895"/>
            <a:ext cx="1581150" cy="14287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D7ACAB-09CE-7AE4-42C1-E51FF273EDAA}"/>
              </a:ext>
            </a:extLst>
          </p:cNvPr>
          <p:cNvSpPr/>
          <p:nvPr/>
        </p:nvSpPr>
        <p:spPr>
          <a:xfrm>
            <a:off x="4487404" y="2779295"/>
            <a:ext cx="1581150" cy="1428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1 فایل اکسل (آبان 1404)</a:t>
            </a:r>
            <a:endParaRPr lang="en-US" sz="2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A3523BA9-9322-E8E9-6F32-B9D69B7A3FE0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 rot="5400000">
            <a:off x="1499011" y="1876978"/>
            <a:ext cx="898230" cy="300814"/>
          </a:xfrm>
          <a:prstGeom prst="curvedConnector3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73B1B10D-0E7C-1CEC-945A-67AF64545E39}"/>
              </a:ext>
            </a:extLst>
          </p:cNvPr>
          <p:cNvCxnSpPr>
            <a:stCxn id="16" idx="2"/>
            <a:endCxn id="20" idx="0"/>
          </p:cNvCxnSpPr>
          <p:nvPr/>
        </p:nvCxnSpPr>
        <p:spPr>
          <a:xfrm rot="16200000" flipH="1">
            <a:off x="3087744" y="589059"/>
            <a:ext cx="896225" cy="2874646"/>
          </a:xfrm>
          <a:prstGeom prst="curvedConnector3">
            <a:avLst/>
          </a:prstGeom>
          <a:ln w="444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779C82-B614-9143-DE6A-17FD96770E4B}"/>
              </a:ext>
            </a:extLst>
          </p:cNvPr>
          <p:cNvSpPr/>
          <p:nvPr/>
        </p:nvSpPr>
        <p:spPr>
          <a:xfrm>
            <a:off x="1196544" y="5042998"/>
            <a:ext cx="1942837" cy="65516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anose="00000400000000000000" pitchFamily="2" charset="-78"/>
              </a:rPr>
              <a:t>آموزش دو مدل</a:t>
            </a:r>
            <a:endParaRPr lang="en-US" sz="2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85D99F4E-0A20-9C2E-D414-1FF30623F4F0}"/>
              </a:ext>
            </a:extLst>
          </p:cNvPr>
          <p:cNvCxnSpPr>
            <a:stCxn id="19" idx="2"/>
            <a:endCxn id="9" idx="1"/>
          </p:cNvCxnSpPr>
          <p:nvPr/>
        </p:nvCxnSpPr>
        <p:spPr>
          <a:xfrm rot="5400000">
            <a:off x="1069266" y="4337329"/>
            <a:ext cx="1160532" cy="905975"/>
          </a:xfrm>
          <a:prstGeom prst="curvedConnector4">
            <a:avLst>
              <a:gd name="adj1" fmla="val 35886"/>
              <a:gd name="adj2" fmla="val 125232"/>
            </a:avLst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7E67E05-4DED-7018-8428-7B3E733B2235}"/>
              </a:ext>
            </a:extLst>
          </p:cNvPr>
          <p:cNvSpPr/>
          <p:nvPr/>
        </p:nvSpPr>
        <p:spPr>
          <a:xfrm>
            <a:off x="4199909" y="5042998"/>
            <a:ext cx="2320530" cy="65516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anose="00000400000000000000" pitchFamily="2" charset="-78"/>
              </a:rPr>
              <a:t>مقایسه دو خروجی</a:t>
            </a:r>
            <a:endParaRPr lang="en-US" sz="2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A3C34C-5C41-2082-9A35-89833342F55D}"/>
              </a:ext>
            </a:extLst>
          </p:cNvPr>
          <p:cNvCxnSpPr>
            <a:stCxn id="9" idx="3"/>
            <a:endCxn id="25" idx="1"/>
          </p:cNvCxnSpPr>
          <p:nvPr/>
        </p:nvCxnSpPr>
        <p:spPr>
          <a:xfrm>
            <a:off x="3139381" y="5370582"/>
            <a:ext cx="106052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A3ABA16-10FD-3B43-651C-ECE641C6CDFC}"/>
              </a:ext>
            </a:extLst>
          </p:cNvPr>
          <p:cNvSpPr/>
          <p:nvPr/>
        </p:nvSpPr>
        <p:spPr>
          <a:xfrm>
            <a:off x="7197959" y="4913352"/>
            <a:ext cx="2320530" cy="9144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anose="00000400000000000000" pitchFamily="2" charset="-78"/>
              </a:rPr>
              <a:t>انجام پیش‌بینی با مدل برتر</a:t>
            </a:r>
            <a:endParaRPr lang="en-US" sz="2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1C3B3A0-5F39-3D89-77DB-675539D1C734}"/>
              </a:ext>
            </a:extLst>
          </p:cNvPr>
          <p:cNvCxnSpPr>
            <a:stCxn id="25" idx="3"/>
            <a:endCxn id="31" idx="1"/>
          </p:cNvCxnSpPr>
          <p:nvPr/>
        </p:nvCxnSpPr>
        <p:spPr>
          <a:xfrm flipV="1">
            <a:off x="6520439" y="5370581"/>
            <a:ext cx="677520" cy="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BEE8AEAB-AD69-7A71-8DBA-B00E4E4B736C}"/>
              </a:ext>
            </a:extLst>
          </p:cNvPr>
          <p:cNvCxnSpPr>
            <a:stCxn id="22" idx="2"/>
            <a:endCxn id="31" idx="0"/>
          </p:cNvCxnSpPr>
          <p:nvPr/>
        </p:nvCxnSpPr>
        <p:spPr>
          <a:xfrm rot="16200000" flipH="1">
            <a:off x="6465448" y="3020575"/>
            <a:ext cx="705307" cy="3080245"/>
          </a:xfrm>
          <a:prstGeom prst="curvedConnector3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980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9" grpId="0" animBg="1"/>
      <p:bldP spid="25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C3CF0-C37B-D44C-0845-87DCAABD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0D51D-7ED7-103A-8396-034E96D6D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34" y="0"/>
            <a:ext cx="10207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775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2FEEE-AACC-BF2F-C995-156AEF24B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33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B2B64E-2C8D-60B1-E3F0-6562F31A70A6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155EB-87E9-7DD5-776A-2F9821A2357D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9837FC-B868-7962-7582-73355D30A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7" y="136525"/>
            <a:ext cx="8221222" cy="627785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F9214D-732F-B843-0C0B-29941CBBF835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30FF9-AF3C-50A3-5B84-F3B8E7D4FD3E}"/>
              </a:ext>
            </a:extLst>
          </p:cNvPr>
          <p:cNvSpPr txBox="1"/>
          <p:nvPr/>
        </p:nvSpPr>
        <p:spPr>
          <a:xfrm>
            <a:off x="8590547" y="1578270"/>
            <a:ext cx="2253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مطالعه موردی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A170D0D-2748-4B42-3DA1-3E799568F144}"/>
              </a:ext>
            </a:extLst>
          </p:cNvPr>
          <p:cNvSpPr/>
          <p:nvPr/>
        </p:nvSpPr>
        <p:spPr>
          <a:xfrm>
            <a:off x="9395765" y="4956564"/>
            <a:ext cx="2253916" cy="6463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anose="00000400000000000000" pitchFamily="2" charset="-78"/>
              </a:rPr>
              <a:t>کد پردازشگر داده</a:t>
            </a:r>
            <a:endParaRPr lang="en-US" sz="2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61139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F48F8-696D-6836-5E20-804721E7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34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3B6EEB-EFB6-227E-BE74-527A63EF75F2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9CA0A-A0F6-A905-1FE7-6367C713832A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C2FBE1-BF72-1602-0E32-F123FBA9B80E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C6084B-9D5A-E508-157F-190778B4B715}"/>
              </a:ext>
            </a:extLst>
          </p:cNvPr>
          <p:cNvSpPr txBox="1"/>
          <p:nvPr/>
        </p:nvSpPr>
        <p:spPr>
          <a:xfrm>
            <a:off x="8590547" y="1578270"/>
            <a:ext cx="2253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مطالعه موردی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F11A08-8776-BCE8-6C51-753DB1A9E26B}"/>
              </a:ext>
            </a:extLst>
          </p:cNvPr>
          <p:cNvSpPr/>
          <p:nvPr/>
        </p:nvSpPr>
        <p:spPr>
          <a:xfrm>
            <a:off x="9395765" y="4956564"/>
            <a:ext cx="2253916" cy="6463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anose="00000400000000000000" pitchFamily="2" charset="-78"/>
              </a:rPr>
              <a:t>کد مدل</a:t>
            </a:r>
            <a:endParaRPr lang="en-US" sz="2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0C15E7-D74F-20C8-DD0A-0CAD13B25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90" y="508282"/>
            <a:ext cx="6872785" cy="5405961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B4BF29-8BF9-FED9-D16F-ABD25302F7C3}"/>
              </a:ext>
            </a:extLst>
          </p:cNvPr>
          <p:cNvSpPr/>
          <p:nvPr/>
        </p:nvSpPr>
        <p:spPr>
          <a:xfrm>
            <a:off x="6814724" y="5626055"/>
            <a:ext cx="2253916" cy="6463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Random forest</a:t>
            </a:r>
          </a:p>
        </p:txBody>
      </p:sp>
    </p:spTree>
    <p:extLst>
      <p:ext uri="{BB962C8B-B14F-4D97-AF65-F5344CB8AC3E}">
        <p14:creationId xmlns:p14="http://schemas.microsoft.com/office/powerpoint/2010/main" val="17273837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D1056-CC48-D992-06F8-9AF5E74C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35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8BDB77-F2DD-F22C-C237-34D7C9144D8C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83BEEB-2D8F-F553-00FD-C645448811E7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355406-C819-3AFD-A22C-0DDE81CBE92A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5B0CE8-4926-071E-32C8-F3F5FCCF517C}"/>
              </a:ext>
            </a:extLst>
          </p:cNvPr>
          <p:cNvSpPr txBox="1"/>
          <p:nvPr/>
        </p:nvSpPr>
        <p:spPr>
          <a:xfrm>
            <a:off x="8590547" y="1578270"/>
            <a:ext cx="2253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مطالعه موردی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0A90B7-3819-19B6-39E3-30112582C42D}"/>
              </a:ext>
            </a:extLst>
          </p:cNvPr>
          <p:cNvSpPr/>
          <p:nvPr/>
        </p:nvSpPr>
        <p:spPr>
          <a:xfrm>
            <a:off x="9395765" y="4956564"/>
            <a:ext cx="2253916" cy="6463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800" b="1" dirty="0">
                <a:solidFill>
                  <a:schemeClr val="tx1"/>
                </a:solidFill>
                <a:cs typeface="B Nazanin" panose="00000400000000000000" pitchFamily="2" charset="-78"/>
              </a:rPr>
              <a:t>جدول ابرپارامترها</a:t>
            </a:r>
            <a:endParaRPr lang="en-US" sz="2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D5F98CF-05A7-63CB-3402-839D5B595B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746736"/>
                  </p:ext>
                </p:extLst>
              </p:nvPr>
            </p:nvGraphicFramePr>
            <p:xfrm>
              <a:off x="334532" y="1154127"/>
              <a:ext cx="7942449" cy="4405755"/>
            </p:xfrm>
            <a:graphic>
              <a:graphicData uri="http://schemas.openxmlformats.org/drawingml/2006/table">
                <a:tbl>
                  <a:tblPr rtl="1" firstRow="1" firstCol="1" bandRow="1">
                    <a:tableStyleId>{5C22544A-7EE6-4342-B048-85BDC9FD1C3A}</a:tableStyleId>
                  </a:tblPr>
                  <a:tblGrid>
                    <a:gridCol w="2647483">
                      <a:extLst>
                        <a:ext uri="{9D8B030D-6E8A-4147-A177-3AD203B41FA5}">
                          <a16:colId xmlns:a16="http://schemas.microsoft.com/office/drawing/2014/main" val="1468011604"/>
                        </a:ext>
                      </a:extLst>
                    </a:gridCol>
                    <a:gridCol w="2647483">
                      <a:extLst>
                        <a:ext uri="{9D8B030D-6E8A-4147-A177-3AD203B41FA5}">
                          <a16:colId xmlns:a16="http://schemas.microsoft.com/office/drawing/2014/main" val="4259344037"/>
                        </a:ext>
                      </a:extLst>
                    </a:gridCol>
                    <a:gridCol w="2647483">
                      <a:extLst>
                        <a:ext uri="{9D8B030D-6E8A-4147-A177-3AD203B41FA5}">
                          <a16:colId xmlns:a16="http://schemas.microsoft.com/office/drawing/2014/main" val="2991250249"/>
                        </a:ext>
                      </a:extLst>
                    </a:gridCol>
                  </a:tblGrid>
                  <a:tr h="1202380"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ar-SA" sz="2400">
                              <a:effectLst/>
                              <a:cs typeface="B Nazanin" panose="00000400000000000000" pitchFamily="2" charset="-78"/>
                            </a:rPr>
                            <a:t>الگوریتم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B Nazanin" panose="00000400000000000000" pitchFamily="2" charset="-7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ar-SA" sz="2400" dirty="0">
                              <a:effectLst/>
                              <a:cs typeface="B Nazanin" panose="00000400000000000000" pitchFamily="2" charset="-78"/>
                            </a:rPr>
                            <a:t>ابرپارامتر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B Nazanin" panose="00000400000000000000" pitchFamily="2" charset="-7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ar-SA" sz="2400" dirty="0">
                              <a:effectLst/>
                              <a:cs typeface="B Nazanin" panose="00000400000000000000" pitchFamily="2" charset="-78"/>
                            </a:rPr>
                            <a:t>فضای جستجو </a:t>
                          </a:r>
                          <a:r>
                            <a:rPr lang="ar-SA" sz="2400" dirty="0">
                              <a:effectLst/>
                            </a:rPr>
                            <a:t>(</a:t>
                          </a: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Search Grid</a:t>
                          </a:r>
                          <a:r>
                            <a:rPr lang="ar-SA" sz="2400" dirty="0">
                              <a:effectLst/>
                            </a:rPr>
                            <a:t>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B Nazanin" panose="00000400000000000000" pitchFamily="2" charset="-7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37346135"/>
                      </a:ext>
                    </a:extLst>
                  </a:tr>
                  <a:tr h="419618"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n_estimators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l" rtl="1">
                            <a:spcBef>
                              <a:spcPts val="100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</a:rPr>
                                      <m:t>50,100,200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6554827"/>
                      </a:ext>
                    </a:extLst>
                  </a:tr>
                  <a:tr h="350695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max_depth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l" rtl="1">
                            <a:spcBef>
                              <a:spcPts val="100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>
                                        <a:effectLst/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>
                                        <a:effectLst/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None</m:t>
                                    </m:r>
                                    <m:r>
                                      <a:rPr lang="en-US" sz="2000">
                                        <a:effectLst/>
                                      </a:rPr>
                                      <m:t>,5,10,15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0280523"/>
                      </a:ext>
                    </a:extLst>
                  </a:tr>
                  <a:tr h="410270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min_samples_split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l" rtl="1">
                            <a:spcBef>
                              <a:spcPts val="100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</a:rPr>
                                      <m:t>2,5,10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94153689"/>
                      </a:ext>
                    </a:extLst>
                  </a:tr>
                  <a:tr h="345099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min_samples_leaf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l" rtl="1">
                            <a:spcBef>
                              <a:spcPts val="100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</a:rPr>
                                      <m:t>1,2,4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61443472"/>
                      </a:ext>
                    </a:extLst>
                  </a:tr>
                  <a:tr h="465221"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 Boosting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n_estimators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l" rtl="1">
                            <a:spcBef>
                              <a:spcPts val="100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</a:rPr>
                                      <m:t>50,100,200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69414938"/>
                      </a:ext>
                    </a:extLst>
                  </a:tr>
                  <a:tr h="425310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learning_rate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l" rtl="1">
                            <a:spcBef>
                              <a:spcPts val="100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</a:rPr>
                                      <m:t>0.01,0.05,0.1,0.2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38521782"/>
                      </a:ext>
                    </a:extLst>
                  </a:tr>
                  <a:tr h="350695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max_depth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l" rtl="1">
                            <a:spcBef>
                              <a:spcPts val="100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</a:rPr>
                                      <m:t>3,5,7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12898897"/>
                      </a:ext>
                    </a:extLst>
                  </a:tr>
                  <a:tr h="436467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subsample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l" rtl="1">
                            <a:spcBef>
                              <a:spcPts val="100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</a:rPr>
                                      <m:t>0.8,1.0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806189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D5F98CF-05A7-63CB-3402-839D5B595B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746736"/>
                  </p:ext>
                </p:extLst>
              </p:nvPr>
            </p:nvGraphicFramePr>
            <p:xfrm>
              <a:off x="334532" y="1154127"/>
              <a:ext cx="7942449" cy="4405755"/>
            </p:xfrm>
            <a:graphic>
              <a:graphicData uri="http://schemas.openxmlformats.org/drawingml/2006/table">
                <a:tbl>
                  <a:tblPr rtl="1" firstRow="1" firstCol="1" bandRow="1">
                    <a:tableStyleId>{5C22544A-7EE6-4342-B048-85BDC9FD1C3A}</a:tableStyleId>
                  </a:tblPr>
                  <a:tblGrid>
                    <a:gridCol w="2647483">
                      <a:extLst>
                        <a:ext uri="{9D8B030D-6E8A-4147-A177-3AD203B41FA5}">
                          <a16:colId xmlns:a16="http://schemas.microsoft.com/office/drawing/2014/main" val="1468011604"/>
                        </a:ext>
                      </a:extLst>
                    </a:gridCol>
                    <a:gridCol w="2647483">
                      <a:extLst>
                        <a:ext uri="{9D8B030D-6E8A-4147-A177-3AD203B41FA5}">
                          <a16:colId xmlns:a16="http://schemas.microsoft.com/office/drawing/2014/main" val="4259344037"/>
                        </a:ext>
                      </a:extLst>
                    </a:gridCol>
                    <a:gridCol w="2647483">
                      <a:extLst>
                        <a:ext uri="{9D8B030D-6E8A-4147-A177-3AD203B41FA5}">
                          <a16:colId xmlns:a16="http://schemas.microsoft.com/office/drawing/2014/main" val="2991250249"/>
                        </a:ext>
                      </a:extLst>
                    </a:gridCol>
                  </a:tblGrid>
                  <a:tr h="1202380"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ar-SA" sz="2400">
                              <a:effectLst/>
                              <a:cs typeface="B Nazanin" panose="00000400000000000000" pitchFamily="2" charset="-78"/>
                            </a:rPr>
                            <a:t>الگوریتم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B Nazanin" panose="00000400000000000000" pitchFamily="2" charset="-7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ar-SA" sz="2400" dirty="0">
                              <a:effectLst/>
                              <a:cs typeface="B Nazanin" panose="00000400000000000000" pitchFamily="2" charset="-78"/>
                            </a:rPr>
                            <a:t>ابرپارامتر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B Nazanin" panose="00000400000000000000" pitchFamily="2" charset="-7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ar-SA" sz="2400" dirty="0">
                              <a:effectLst/>
                              <a:cs typeface="B Nazanin" panose="00000400000000000000" pitchFamily="2" charset="-78"/>
                            </a:rPr>
                            <a:t>فضای جستجو </a:t>
                          </a:r>
                          <a:r>
                            <a:rPr lang="ar-SA" sz="2400" dirty="0">
                              <a:effectLst/>
                            </a:rPr>
                            <a:t>(</a:t>
                          </a: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Search Grid</a:t>
                          </a:r>
                          <a:r>
                            <a:rPr lang="ar-SA" sz="2400" dirty="0">
                              <a:effectLst/>
                            </a:rPr>
                            <a:t>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B Nazanin" panose="00000400000000000000" pitchFamily="2" charset="-7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37346135"/>
                      </a:ext>
                    </a:extLst>
                  </a:tr>
                  <a:tr h="419618"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n_estimators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0000" t="-317391" r="-920" b="-6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6554827"/>
                      </a:ext>
                    </a:extLst>
                  </a:tr>
                  <a:tr h="350695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max_depth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0000" t="-505263" r="-920" b="-70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0280523"/>
                      </a:ext>
                    </a:extLst>
                  </a:tr>
                  <a:tr h="410270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min_samples_split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0000" t="-507353" r="-920" b="-492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4153689"/>
                      </a:ext>
                    </a:extLst>
                  </a:tr>
                  <a:tr h="345099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min_samples_leaf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0000" t="-737500" r="-920" b="-4982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1443472"/>
                      </a:ext>
                    </a:extLst>
                  </a:tr>
                  <a:tr h="465221"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 Boosting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n_estimators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0000" t="-609091" r="-920" b="-2623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9414938"/>
                      </a:ext>
                    </a:extLst>
                  </a:tr>
                  <a:tr h="425310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learning_rate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0000" t="-780000" r="-920" b="-1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8521782"/>
                      </a:ext>
                    </a:extLst>
                  </a:tr>
                  <a:tr h="350695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max_depth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0000" t="-1080702" r="-920" b="-131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2898897"/>
                      </a:ext>
                    </a:extLst>
                  </a:tr>
                  <a:tr h="436467">
                    <a:tc>
                      <a:txBody>
                        <a:bodyPr/>
                        <a:lstStyle/>
                        <a:p>
                          <a:pPr algn="ctr" rtl="1">
                            <a:buNone/>
                          </a:pPr>
                          <a:endParaRPr lang="en-US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spcBef>
                              <a:spcPts val="1000"/>
                            </a:spcBef>
                            <a:buNone/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subsample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0000" t="-934722" r="-920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6189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25031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27FE1-8A95-7B3E-50F3-8AB6DEAC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36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4FD545-B789-222A-631F-BD8669716130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55AA0-287C-218F-5190-64F9F3173B03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F2D177-5487-3E79-D290-52D9633C224C}"/>
              </a:ext>
            </a:extLst>
          </p:cNvPr>
          <p:cNvSpPr/>
          <p:nvPr/>
        </p:nvSpPr>
        <p:spPr>
          <a:xfrm>
            <a:off x="8590547" y="1323474"/>
            <a:ext cx="2253916" cy="12272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6C483E-752E-AF31-E34D-DC2E9C481072}"/>
              </a:ext>
            </a:extLst>
          </p:cNvPr>
          <p:cNvSpPr txBox="1"/>
          <p:nvPr/>
        </p:nvSpPr>
        <p:spPr>
          <a:xfrm>
            <a:off x="8590547" y="1578270"/>
            <a:ext cx="2253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مطالعه موردی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D174FE-FF97-34DD-41C1-EE19259A1CFE}"/>
              </a:ext>
            </a:extLst>
          </p:cNvPr>
          <p:cNvSpPr/>
          <p:nvPr/>
        </p:nvSpPr>
        <p:spPr>
          <a:xfrm>
            <a:off x="9395765" y="4956564"/>
            <a:ext cx="2253916" cy="6463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anose="00000400000000000000" pitchFamily="2" charset="-78"/>
              </a:rPr>
              <a:t>کد فرم خروجی</a:t>
            </a:r>
            <a:endParaRPr lang="en-US" sz="2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F4E62F-5179-4508-C67F-7A1B2F870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67" y="1037074"/>
            <a:ext cx="8374760" cy="47060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8631D4-605B-E40C-8A7B-91AEE3BF6823}"/>
              </a:ext>
            </a:extLst>
          </p:cNvPr>
          <p:cNvSpPr/>
          <p:nvPr/>
        </p:nvSpPr>
        <p:spPr>
          <a:xfrm rot="18707391">
            <a:off x="11313882" y="5321839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FA2A27-6FCF-279E-A7F2-A364F0E8AA51}"/>
              </a:ext>
            </a:extLst>
          </p:cNvPr>
          <p:cNvSpPr txBox="1"/>
          <p:nvPr/>
        </p:nvSpPr>
        <p:spPr>
          <a:xfrm>
            <a:off x="12525466" y="8403963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یافته‌ها و تفسیر آنها</a:t>
            </a:r>
          </a:p>
        </p:txBody>
      </p:sp>
    </p:spTree>
    <p:extLst>
      <p:ext uri="{BB962C8B-B14F-4D97-AF65-F5344CB8AC3E}">
        <p14:creationId xmlns:p14="http://schemas.microsoft.com/office/powerpoint/2010/main" val="483480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B0030-4596-A630-0C41-E14E0328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37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32E5D1-E8B9-4264-ED9B-26D749AF4F6A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BC6C3A-CA70-E4AC-7639-6794B830F53D}"/>
              </a:ext>
            </a:extLst>
          </p:cNvPr>
          <p:cNvSpPr txBox="1"/>
          <p:nvPr/>
        </p:nvSpPr>
        <p:spPr>
          <a:xfrm>
            <a:off x="10022897" y="309402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یافته‌ها و تفسیر آنها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1619D7-C320-C3BF-58C6-2C148578B84B}"/>
              </a:ext>
            </a:extLst>
          </p:cNvPr>
          <p:cNvSpPr/>
          <p:nvPr/>
        </p:nvSpPr>
        <p:spPr>
          <a:xfrm rot="2862811">
            <a:off x="11466687" y="-817613"/>
            <a:ext cx="8824823" cy="279927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58E7B-37BC-AC1B-652F-8DF1F2A28713}"/>
              </a:ext>
            </a:extLst>
          </p:cNvPr>
          <p:cNvSpPr txBox="1"/>
          <p:nvPr/>
        </p:nvSpPr>
        <p:spPr>
          <a:xfrm>
            <a:off x="12717971" y="-2099333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روش پژوهش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574EB20-6C7A-E88C-27B6-FDB74E585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477432"/>
              </p:ext>
            </p:extLst>
          </p:nvPr>
        </p:nvGraphicFramePr>
        <p:xfrm>
          <a:off x="696110" y="1964100"/>
          <a:ext cx="7405154" cy="38266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7075">
                  <a:extLst>
                    <a:ext uri="{9D8B030D-6E8A-4147-A177-3AD203B41FA5}">
                      <a16:colId xmlns:a16="http://schemas.microsoft.com/office/drawing/2014/main" val="4028893783"/>
                    </a:ext>
                  </a:extLst>
                </a:gridCol>
                <a:gridCol w="1484889">
                  <a:extLst>
                    <a:ext uri="{9D8B030D-6E8A-4147-A177-3AD203B41FA5}">
                      <a16:colId xmlns:a16="http://schemas.microsoft.com/office/drawing/2014/main" val="553932084"/>
                    </a:ext>
                  </a:extLst>
                </a:gridCol>
                <a:gridCol w="1333884">
                  <a:extLst>
                    <a:ext uri="{9D8B030D-6E8A-4147-A177-3AD203B41FA5}">
                      <a16:colId xmlns:a16="http://schemas.microsoft.com/office/drawing/2014/main" val="592647158"/>
                    </a:ext>
                  </a:extLst>
                </a:gridCol>
                <a:gridCol w="1031873">
                  <a:extLst>
                    <a:ext uri="{9D8B030D-6E8A-4147-A177-3AD203B41FA5}">
                      <a16:colId xmlns:a16="http://schemas.microsoft.com/office/drawing/2014/main" val="425771078"/>
                    </a:ext>
                  </a:extLst>
                </a:gridCol>
                <a:gridCol w="1517608">
                  <a:extLst>
                    <a:ext uri="{9D8B030D-6E8A-4147-A177-3AD203B41FA5}">
                      <a16:colId xmlns:a16="http://schemas.microsoft.com/office/drawing/2014/main" val="55145274"/>
                    </a:ext>
                  </a:extLst>
                </a:gridCol>
                <a:gridCol w="1099825">
                  <a:extLst>
                    <a:ext uri="{9D8B030D-6E8A-4147-A177-3AD203B41FA5}">
                      <a16:colId xmlns:a16="http://schemas.microsoft.com/office/drawing/2014/main" val="1158829692"/>
                    </a:ext>
                  </a:extLst>
                </a:gridCol>
              </a:tblGrid>
              <a:tr h="214181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2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target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2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ar-SA" sz="2000" dirty="0">
                          <a:effectLst/>
                        </a:rPr>
                        <a:t>دمای محیط بال میل</a:t>
                      </a:r>
                      <a:r>
                        <a:rPr lang="en-US" sz="1800" dirty="0">
                          <a:effectLst/>
                        </a:rPr>
                        <a:t>(c)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2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ar-SA" sz="2000" dirty="0">
                          <a:effectLst/>
                        </a:rPr>
                        <a:t>دمای هوای ورودی بالمیل </a:t>
                      </a:r>
                      <a:r>
                        <a:rPr lang="en-US" sz="1800" dirty="0">
                          <a:effectLst/>
                        </a:rPr>
                        <a:t>(c)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2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ar-SA" sz="2000" dirty="0">
                          <a:effectLst/>
                        </a:rPr>
                        <a:t>دمای1 بالمیل </a:t>
                      </a:r>
                      <a:r>
                        <a:rPr lang="en-US" sz="1800" dirty="0">
                          <a:effectLst/>
                        </a:rPr>
                        <a:t>(c)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2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ar-SA" sz="2000" dirty="0">
                          <a:effectLst/>
                        </a:rPr>
                        <a:t>فرکانس فن </a:t>
                      </a:r>
                      <a:r>
                        <a:rPr lang="en-US" sz="1800" dirty="0">
                          <a:effectLst/>
                        </a:rPr>
                        <a:t>(Hz) Bag house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250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ar-SA" sz="2000" dirty="0">
                          <a:effectLst/>
                        </a:rPr>
                        <a:t>فشار مکنده </a:t>
                      </a:r>
                      <a:r>
                        <a:rPr lang="en-US" sz="1800" dirty="0">
                          <a:effectLst/>
                        </a:rPr>
                        <a:t>Bag house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4944778"/>
                  </a:ext>
                </a:extLst>
              </a:tr>
              <a:tr h="303816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22.4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26.2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27.0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178.0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33.5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206.0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0894655"/>
                  </a:ext>
                </a:extLst>
              </a:tr>
              <a:tr h="306650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22.0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32.4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29.0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177.0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23.5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211.0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0868412"/>
                  </a:ext>
                </a:extLst>
              </a:tr>
              <a:tr h="337130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22.0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32.7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30.0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176.0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33.5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187.0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3413970"/>
                  </a:ext>
                </a:extLst>
              </a:tr>
              <a:tr h="346553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23.8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32.4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26.0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179.0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42.5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293.0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254829"/>
                  </a:ext>
                </a:extLst>
              </a:tr>
              <a:tr h="390643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24.8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35.9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30.0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178.0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43.5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</a:rPr>
                        <a:t>321.0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9127428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612858-373A-7A50-3873-47C579B8C037}"/>
              </a:ext>
            </a:extLst>
          </p:cNvPr>
          <p:cNvSpPr/>
          <p:nvPr/>
        </p:nvSpPr>
        <p:spPr>
          <a:xfrm>
            <a:off x="8302573" y="1714171"/>
            <a:ext cx="2775285" cy="98011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b="1" dirty="0">
                <a:cs typeface="B Nazanin" panose="00000400000000000000" pitchFamily="2" charset="-78"/>
              </a:rPr>
              <a:t>یافته‌های حاصل از پیش‌پردازش داده‌ها</a:t>
            </a:r>
            <a:endParaRPr lang="en-US" sz="2800" b="1" dirty="0">
              <a:cs typeface="B Nazanin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A54F01-400F-8B5F-3736-3CB8B77D41D6}"/>
              </a:ext>
            </a:extLst>
          </p:cNvPr>
          <p:cNvSpPr/>
          <p:nvPr/>
        </p:nvSpPr>
        <p:spPr>
          <a:xfrm>
            <a:off x="685800" y="625060"/>
            <a:ext cx="3048000" cy="10748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160 نقطه داده حاصل از 46 فایل اکسل (مهر 1404)</a:t>
            </a:r>
            <a:endParaRPr lang="en-US" sz="24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123066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7D1CD-93C3-D7F5-9F50-3464FEA2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38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4E8A6F-6194-81F2-A0E3-45EEF0D03583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8386A-2C6D-F27C-3451-82C81115FE4B}"/>
              </a:ext>
            </a:extLst>
          </p:cNvPr>
          <p:cNvSpPr txBox="1"/>
          <p:nvPr/>
        </p:nvSpPr>
        <p:spPr>
          <a:xfrm>
            <a:off x="10022897" y="309402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یافته‌ها و تفسیر آنها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B46FA8-CCC5-C821-D95F-F14E21C3D9B1}"/>
              </a:ext>
            </a:extLst>
          </p:cNvPr>
          <p:cNvSpPr/>
          <p:nvPr/>
        </p:nvSpPr>
        <p:spPr>
          <a:xfrm>
            <a:off x="8181475" y="1187116"/>
            <a:ext cx="2896384" cy="150717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rtl="1"/>
            <a:endParaRPr 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93634D-0E19-F222-DB19-3B723D63E695}"/>
              </a:ext>
            </a:extLst>
          </p:cNvPr>
          <p:cNvSpPr txBox="1"/>
          <p:nvPr/>
        </p:nvSpPr>
        <p:spPr>
          <a:xfrm>
            <a:off x="8181475" y="1248205"/>
            <a:ext cx="2896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800" b="1" dirty="0">
                <a:cs typeface="B Nazanin" panose="00000400000000000000" pitchFamily="2" charset="-78"/>
              </a:rPr>
              <a:t>یافته‌های ارزیابی مدل‌های یادگیری ماشین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A35E6F6-37DA-F30D-CFC2-5CFFE37C9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669798"/>
              </p:ext>
            </p:extLst>
          </p:nvPr>
        </p:nvGraphicFramePr>
        <p:xfrm>
          <a:off x="411614" y="1892371"/>
          <a:ext cx="7625015" cy="3073258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525003">
                  <a:extLst>
                    <a:ext uri="{9D8B030D-6E8A-4147-A177-3AD203B41FA5}">
                      <a16:colId xmlns:a16="http://schemas.microsoft.com/office/drawing/2014/main" val="2672554726"/>
                    </a:ext>
                  </a:extLst>
                </a:gridCol>
                <a:gridCol w="1525003">
                  <a:extLst>
                    <a:ext uri="{9D8B030D-6E8A-4147-A177-3AD203B41FA5}">
                      <a16:colId xmlns:a16="http://schemas.microsoft.com/office/drawing/2014/main" val="2590046560"/>
                    </a:ext>
                  </a:extLst>
                </a:gridCol>
                <a:gridCol w="1525003">
                  <a:extLst>
                    <a:ext uri="{9D8B030D-6E8A-4147-A177-3AD203B41FA5}">
                      <a16:colId xmlns:a16="http://schemas.microsoft.com/office/drawing/2014/main" val="2859389765"/>
                    </a:ext>
                  </a:extLst>
                </a:gridCol>
                <a:gridCol w="1525003">
                  <a:extLst>
                    <a:ext uri="{9D8B030D-6E8A-4147-A177-3AD203B41FA5}">
                      <a16:colId xmlns:a16="http://schemas.microsoft.com/office/drawing/2014/main" val="1019790956"/>
                    </a:ext>
                  </a:extLst>
                </a:gridCol>
                <a:gridCol w="1525003">
                  <a:extLst>
                    <a:ext uri="{9D8B030D-6E8A-4147-A177-3AD203B41FA5}">
                      <a16:colId xmlns:a16="http://schemas.microsoft.com/office/drawing/2014/main" val="4124709904"/>
                    </a:ext>
                  </a:extLst>
                </a:gridCol>
              </a:tblGrid>
              <a:tr h="827416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000">
                          <a:effectLst/>
                          <a:cs typeface="B Nazanin" panose="00000400000000000000" pitchFamily="2" charset="-78"/>
                        </a:rPr>
                        <a:t>مدل یادگیری ماشین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000">
                          <a:effectLst/>
                          <a:cs typeface="B Nazanin" panose="00000400000000000000" pitchFamily="2" charset="-78"/>
                        </a:rPr>
                        <a:t>مجموعه داده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000" dirty="0">
                          <a:effectLst/>
                          <a:cs typeface="B Nazanin" panose="00000400000000000000" pitchFamily="2" charset="-78"/>
                        </a:rPr>
                        <a:t>ضریب تعیین (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80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ar-SA" sz="2000" dirty="0">
                          <a:effectLst/>
                          <a:cs typeface="B Nazanin" panose="00000400000000000000" pitchFamily="2" charset="-78"/>
                        </a:rPr>
                        <a:t>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000" dirty="0">
                          <a:effectLst/>
                          <a:cs typeface="B Nazanin" panose="00000400000000000000" pitchFamily="2" charset="-78"/>
                        </a:rPr>
                        <a:t>خطای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000" dirty="0">
                          <a:effectLst/>
                          <a:cs typeface="B Nazanin" panose="00000400000000000000" pitchFamily="2" charset="-78"/>
                        </a:rPr>
                        <a:t>خطای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5176713"/>
                  </a:ext>
                </a:extLst>
              </a:tr>
              <a:tr h="413708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000" dirty="0">
                          <a:effectLst/>
                          <a:cs typeface="B Nazanin" panose="00000400000000000000" pitchFamily="2" charset="-78"/>
                        </a:rPr>
                        <a:t>جنگل تصادفی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000" dirty="0">
                          <a:effectLst/>
                          <a:cs typeface="B Nazanin" panose="00000400000000000000" pitchFamily="2" charset="-78"/>
                        </a:rPr>
                        <a:t>آموزش (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</a:t>
                      </a:r>
                      <a:r>
                        <a:rPr lang="fa-IR" sz="2000" dirty="0">
                          <a:effectLst/>
                          <a:cs typeface="B Nazanin" panose="00000400000000000000" pitchFamily="2" charset="-78"/>
                        </a:rPr>
                        <a:t>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0.7630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0.7319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0.5694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5401390"/>
                  </a:ext>
                </a:extLst>
              </a:tr>
              <a:tr h="709213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000" dirty="0">
                          <a:effectLst/>
                          <a:cs typeface="B Nazanin" panose="00000400000000000000" pitchFamily="2" charset="-78"/>
                        </a:rPr>
                        <a:t>آزمون (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  <a:r>
                        <a:rPr lang="fa-IR" sz="2000" dirty="0">
                          <a:effectLst/>
                          <a:cs typeface="B Nazanin" panose="00000400000000000000" pitchFamily="2" charset="-78"/>
                        </a:rPr>
                        <a:t>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0.5508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0.9958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0.8291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3243098"/>
                  </a:ext>
                </a:extLst>
              </a:tr>
              <a:tr h="413708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000" dirty="0">
                          <a:effectLst/>
                          <a:cs typeface="B Nazanin" panose="00000400000000000000" pitchFamily="2" charset="-78"/>
                        </a:rPr>
                        <a:t>گرادیان بوستینگ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000" dirty="0">
                          <a:effectLst/>
                          <a:cs typeface="B Nazanin" panose="00000400000000000000" pitchFamily="2" charset="-78"/>
                        </a:rPr>
                        <a:t>آموزش (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</a:t>
                      </a:r>
                      <a:r>
                        <a:rPr lang="fa-IR" sz="2000" dirty="0">
                          <a:effectLst/>
                          <a:cs typeface="B Nazanin" panose="00000400000000000000" pitchFamily="2" charset="-78"/>
                        </a:rPr>
                        <a:t>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0.9190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0.4278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0.3548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1647975"/>
                  </a:ext>
                </a:extLst>
              </a:tr>
              <a:tr h="709213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000" dirty="0">
                          <a:effectLst/>
                          <a:cs typeface="B Nazanin" panose="00000400000000000000" pitchFamily="2" charset="-78"/>
                        </a:rPr>
                        <a:t>آزمون (</a:t>
                      </a:r>
                      <a:r>
                        <a:rPr lang="en-US" sz="1800" dirty="0">
                          <a:effectLst/>
                          <a:cs typeface="B Nazanin" panose="00000400000000000000" pitchFamily="2" charset="-78"/>
                        </a:rPr>
                        <a:t>Test</a:t>
                      </a:r>
                      <a:r>
                        <a:rPr lang="fa-IR" sz="2000" dirty="0">
                          <a:effectLst/>
                          <a:cs typeface="B Nazanin" panose="00000400000000000000" pitchFamily="2" charset="-78"/>
                        </a:rPr>
                        <a:t>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0.5655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0.9793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spcBef>
                          <a:spcPts val="1000"/>
                        </a:spcBef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0.7989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1388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839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69E38-BC21-864E-4BAD-2F9E6A47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39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27ED68-C5CF-841B-946F-6B2AF959C5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51" y="382849"/>
            <a:ext cx="5833068" cy="304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C873731-57CB-F0CC-2205-510C82E729B0}"/>
              </a:ext>
            </a:extLst>
          </p:cNvPr>
          <p:cNvSpPr/>
          <p:nvPr/>
        </p:nvSpPr>
        <p:spPr>
          <a:xfrm>
            <a:off x="6911493" y="0"/>
            <a:ext cx="528050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C39982-7503-B5A7-AB2A-1F651E31B7CB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B332F-42C9-BA8A-4198-683DAC4A80F6}"/>
              </a:ext>
            </a:extLst>
          </p:cNvPr>
          <p:cNvSpPr txBox="1"/>
          <p:nvPr/>
        </p:nvSpPr>
        <p:spPr>
          <a:xfrm>
            <a:off x="10022897" y="309402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یافته‌ها و تفسیر آنها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4D3E36-8241-8B1A-783B-6A44B68264CE}"/>
              </a:ext>
            </a:extLst>
          </p:cNvPr>
          <p:cNvSpPr/>
          <p:nvPr/>
        </p:nvSpPr>
        <p:spPr>
          <a:xfrm>
            <a:off x="8181475" y="1187116"/>
            <a:ext cx="2896384" cy="150717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rtl="1"/>
            <a:endParaRPr 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9584B-BEA4-549E-7C0F-D88286D66C9E}"/>
              </a:ext>
            </a:extLst>
          </p:cNvPr>
          <p:cNvSpPr txBox="1"/>
          <p:nvPr/>
        </p:nvSpPr>
        <p:spPr>
          <a:xfrm>
            <a:off x="8181475" y="1248205"/>
            <a:ext cx="2896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800" b="1" dirty="0">
                <a:cs typeface="B Nazanin" panose="00000400000000000000" pitchFamily="2" charset="-78"/>
              </a:rPr>
              <a:t>یافته‌های ارزیابی مدل‌های یادگیری ماشین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176ADA-2E4A-FBE9-3F97-2084C53A0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97018"/>
            <a:ext cx="2951709" cy="2591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81106C-6FE8-D57F-CCFD-CA12A1D0D3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859" y="3597018"/>
            <a:ext cx="2685860" cy="25913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3822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23E99-86CE-10A9-0215-59847906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948" y="6388434"/>
            <a:ext cx="2743200" cy="365125"/>
          </a:xfrm>
        </p:spPr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40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E77496-90B2-E6A4-52F3-1BA2198AA1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43" y="355290"/>
            <a:ext cx="11771684" cy="614741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26C2C04-45B5-543D-6F3F-7C8979EF38D3}"/>
              </a:ext>
            </a:extLst>
          </p:cNvPr>
          <p:cNvSpPr/>
          <p:nvPr/>
        </p:nvSpPr>
        <p:spPr>
          <a:xfrm>
            <a:off x="6529137" y="0"/>
            <a:ext cx="56628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5BEB5A-85F4-14E2-F006-7562F1F8A9E0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E26D24-2DA1-87DA-A0C8-309DCD23484E}"/>
              </a:ext>
            </a:extLst>
          </p:cNvPr>
          <p:cNvSpPr txBox="1"/>
          <p:nvPr/>
        </p:nvSpPr>
        <p:spPr>
          <a:xfrm>
            <a:off x="10022897" y="309402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یافته‌ها و تفسیر آنها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A9235A-8334-4E8D-E833-2EEC45E9E6DB}"/>
              </a:ext>
            </a:extLst>
          </p:cNvPr>
          <p:cNvSpPr/>
          <p:nvPr/>
        </p:nvSpPr>
        <p:spPr>
          <a:xfrm>
            <a:off x="8181475" y="1187116"/>
            <a:ext cx="2896384" cy="150717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rtl="1"/>
            <a:endParaRPr lang="en-US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076C8-25E4-7A1E-C5F4-B7B7C78AA277}"/>
              </a:ext>
            </a:extLst>
          </p:cNvPr>
          <p:cNvSpPr txBox="1"/>
          <p:nvPr/>
        </p:nvSpPr>
        <p:spPr>
          <a:xfrm>
            <a:off x="8181475" y="1248205"/>
            <a:ext cx="2896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800" b="1" dirty="0">
                <a:cs typeface="B Nazanin" panose="00000400000000000000" pitchFamily="2" charset="-78"/>
              </a:rPr>
              <a:t>یافته‌های ارزیابی مدل‌های یادگیری ماشین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D6CCA8-D654-C7A4-EF72-C4B87A802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52" y="7081292"/>
            <a:ext cx="5956828" cy="5229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70D023-F98D-A8E3-4722-A6D8D598C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680" y="6919089"/>
            <a:ext cx="5420320" cy="5229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22870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063F1-301A-F7AD-5520-2C1F01572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41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FF8785-2CC9-AE32-9E1F-371B97F88A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75684" y="355290"/>
            <a:ext cx="11771684" cy="61474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9A66CBB-07D6-43AA-8B61-2928DBDBC235}"/>
              </a:ext>
            </a:extLst>
          </p:cNvPr>
          <p:cNvSpPr/>
          <p:nvPr/>
        </p:nvSpPr>
        <p:spPr>
          <a:xfrm>
            <a:off x="6911493" y="0"/>
            <a:ext cx="528050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2198557-5389-8931-B00E-6768C87B4CF5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FDFDA4-2A6A-930E-884B-A997D2604B1E}"/>
              </a:ext>
            </a:extLst>
          </p:cNvPr>
          <p:cNvSpPr txBox="1"/>
          <p:nvPr/>
        </p:nvSpPr>
        <p:spPr>
          <a:xfrm>
            <a:off x="10022897" y="309402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یافته‌ها و تفسیر آنها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581AD9-26AD-2BF6-C183-27AEC687290D}"/>
              </a:ext>
            </a:extLst>
          </p:cNvPr>
          <p:cNvSpPr/>
          <p:nvPr/>
        </p:nvSpPr>
        <p:spPr>
          <a:xfrm>
            <a:off x="8181475" y="1187116"/>
            <a:ext cx="2896384" cy="150717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rtl="1"/>
            <a:endParaRPr lang="en-US" sz="2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A5E11F-AEB2-7631-96F1-CC9E6CCD7CF9}"/>
              </a:ext>
            </a:extLst>
          </p:cNvPr>
          <p:cNvSpPr txBox="1"/>
          <p:nvPr/>
        </p:nvSpPr>
        <p:spPr>
          <a:xfrm>
            <a:off x="8181475" y="1248205"/>
            <a:ext cx="2896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800" b="1" dirty="0">
                <a:cs typeface="B Nazanin" panose="00000400000000000000" pitchFamily="2" charset="-78"/>
              </a:rPr>
              <a:t>یافته‌های ارزیابی مدل‌های یادگیری ماشین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ACE0249-0790-3C91-6E92-2C8AABFE1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09704" y="6830442"/>
            <a:ext cx="5956828" cy="5229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23A976-E2CC-4FAA-FAC7-6E9C19FDCF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24" y="6858000"/>
            <a:ext cx="5420320" cy="5229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40440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F3548-A9D7-2F19-955E-6656B5DF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42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7E23ADD-264F-2B72-F399-E228E19BC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493" y="841800"/>
            <a:ext cx="5420320" cy="5229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C17416-5CF2-5928-65CD-8B5B942559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-6554540"/>
            <a:ext cx="11771684" cy="61474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00A2178-2C76-9838-E855-31736BD30D17}"/>
              </a:ext>
            </a:extLst>
          </p:cNvPr>
          <p:cNvSpPr/>
          <p:nvPr/>
        </p:nvSpPr>
        <p:spPr>
          <a:xfrm>
            <a:off x="6911493" y="0"/>
            <a:ext cx="528050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E15B75-DBA1-628E-C32D-7C1A3DC6C6B3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09C8F-759F-FCB0-63E1-402FE1207943}"/>
              </a:ext>
            </a:extLst>
          </p:cNvPr>
          <p:cNvSpPr txBox="1"/>
          <p:nvPr/>
        </p:nvSpPr>
        <p:spPr>
          <a:xfrm>
            <a:off x="10022897" y="309402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یافته‌ها و تفسیر آنها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95D46E-DAF1-666E-5AC7-E689CF5B5F54}"/>
              </a:ext>
            </a:extLst>
          </p:cNvPr>
          <p:cNvSpPr/>
          <p:nvPr/>
        </p:nvSpPr>
        <p:spPr>
          <a:xfrm>
            <a:off x="8181475" y="1187116"/>
            <a:ext cx="2896384" cy="150717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rtl="1"/>
            <a:endParaRPr lang="en-US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4B813-ECF7-8B16-6B72-314349914C06}"/>
              </a:ext>
            </a:extLst>
          </p:cNvPr>
          <p:cNvSpPr txBox="1"/>
          <p:nvPr/>
        </p:nvSpPr>
        <p:spPr>
          <a:xfrm>
            <a:off x="8181475" y="1248205"/>
            <a:ext cx="2896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800" b="1" dirty="0">
                <a:cs typeface="B Nazanin" panose="00000400000000000000" pitchFamily="2" charset="-78"/>
              </a:rPr>
              <a:t>یافته‌های ارزیابی مدل‌های یادگیری ماشین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AD4B30-9834-EEC0-57B8-443B7B5A2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65" y="814242"/>
            <a:ext cx="5956828" cy="5229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93829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B5B74-838F-6B33-9FB5-6DB249C5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43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5B1E36-91EB-5D51-7218-7C386E946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45" y="778165"/>
            <a:ext cx="5420320" cy="522951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2F40008-5F3E-3017-D7D6-E37CD5A0F6D4}"/>
              </a:ext>
            </a:extLst>
          </p:cNvPr>
          <p:cNvSpPr/>
          <p:nvPr/>
        </p:nvSpPr>
        <p:spPr>
          <a:xfrm>
            <a:off x="6911493" y="0"/>
            <a:ext cx="528050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5B4F293-56F7-2767-F9B5-856E705255EA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F789CB-72AF-42E6-1A86-4D1B80EB197C}"/>
              </a:ext>
            </a:extLst>
          </p:cNvPr>
          <p:cNvSpPr txBox="1"/>
          <p:nvPr/>
        </p:nvSpPr>
        <p:spPr>
          <a:xfrm>
            <a:off x="10022897" y="309402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یافته‌ها و تفسیر آنها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569855-52F6-5D1D-567A-004B1A75B7D5}"/>
              </a:ext>
            </a:extLst>
          </p:cNvPr>
          <p:cNvSpPr/>
          <p:nvPr/>
        </p:nvSpPr>
        <p:spPr>
          <a:xfrm>
            <a:off x="8181475" y="1187116"/>
            <a:ext cx="2896384" cy="150717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rtl="1"/>
            <a:endParaRPr lang="en-US" sz="2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9F9576-C567-264E-71B7-C33091449BE6}"/>
              </a:ext>
            </a:extLst>
          </p:cNvPr>
          <p:cNvSpPr txBox="1"/>
          <p:nvPr/>
        </p:nvSpPr>
        <p:spPr>
          <a:xfrm>
            <a:off x="8181475" y="1248205"/>
            <a:ext cx="2896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800" b="1" dirty="0">
                <a:cs typeface="B Nazanin" panose="00000400000000000000" pitchFamily="2" charset="-78"/>
              </a:rPr>
              <a:t>یافته‌های ارزیابی مدل‌های یادگیری ماشین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9922C12-610E-E563-52E4-2A7199085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89924" y="841799"/>
            <a:ext cx="5956828" cy="5229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3640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C8564-89F9-AFD6-C006-348CF7BF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44</a:t>
            </a:fld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5B4787-CA06-1C9F-DFB2-ADE7E16D8F55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96058-645D-A047-6429-EA3A6FB80643}"/>
              </a:ext>
            </a:extLst>
          </p:cNvPr>
          <p:cNvSpPr txBox="1"/>
          <p:nvPr/>
        </p:nvSpPr>
        <p:spPr>
          <a:xfrm>
            <a:off x="10022897" y="309402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یافته‌ها و تفسیر آنها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87C0A4-B3BB-0028-0EAE-243A59F05A79}"/>
              </a:ext>
            </a:extLst>
          </p:cNvPr>
          <p:cNvSpPr/>
          <p:nvPr/>
        </p:nvSpPr>
        <p:spPr>
          <a:xfrm>
            <a:off x="8181475" y="1187116"/>
            <a:ext cx="2896384" cy="150717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rtl="1"/>
            <a:endParaRPr lang="en-US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045D1-CDA7-1872-BADE-6AAC8E09E98A}"/>
              </a:ext>
            </a:extLst>
          </p:cNvPr>
          <p:cNvSpPr txBox="1"/>
          <p:nvPr/>
        </p:nvSpPr>
        <p:spPr>
          <a:xfrm>
            <a:off x="8181475" y="1187116"/>
            <a:ext cx="292597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3200" b="1" dirty="0">
                <a:cs typeface="B Nazanin" panose="00000400000000000000" pitchFamily="2" charset="-78"/>
              </a:rPr>
              <a:t>خروجی فاز پیش‌بینی بر روی داده‌های جدید</a:t>
            </a:r>
            <a:endParaRPr lang="en-US" sz="2800" b="1" dirty="0">
              <a:cs typeface="B Nazanin" panose="00000400000000000000" pitchFamily="2" charset="-78"/>
            </a:endParaRPr>
          </a:p>
          <a:p>
            <a:pPr algn="ctr"/>
            <a:endParaRPr lang="en-US" sz="320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CD756B0-DFF9-3BF8-278B-AE73EAF02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072127"/>
              </p:ext>
            </p:extLst>
          </p:nvPr>
        </p:nvGraphicFramePr>
        <p:xfrm>
          <a:off x="177453" y="2109835"/>
          <a:ext cx="7857213" cy="29839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2459">
                  <a:extLst>
                    <a:ext uri="{9D8B030D-6E8A-4147-A177-3AD203B41FA5}">
                      <a16:colId xmlns:a16="http://schemas.microsoft.com/office/drawing/2014/main" val="1744436943"/>
                    </a:ext>
                  </a:extLst>
                </a:gridCol>
                <a:gridCol w="1122459">
                  <a:extLst>
                    <a:ext uri="{9D8B030D-6E8A-4147-A177-3AD203B41FA5}">
                      <a16:colId xmlns:a16="http://schemas.microsoft.com/office/drawing/2014/main" val="3834720995"/>
                    </a:ext>
                  </a:extLst>
                </a:gridCol>
                <a:gridCol w="1122459">
                  <a:extLst>
                    <a:ext uri="{9D8B030D-6E8A-4147-A177-3AD203B41FA5}">
                      <a16:colId xmlns:a16="http://schemas.microsoft.com/office/drawing/2014/main" val="648946102"/>
                    </a:ext>
                  </a:extLst>
                </a:gridCol>
                <a:gridCol w="1122459">
                  <a:extLst>
                    <a:ext uri="{9D8B030D-6E8A-4147-A177-3AD203B41FA5}">
                      <a16:colId xmlns:a16="http://schemas.microsoft.com/office/drawing/2014/main" val="1041168663"/>
                    </a:ext>
                  </a:extLst>
                </a:gridCol>
                <a:gridCol w="1122459">
                  <a:extLst>
                    <a:ext uri="{9D8B030D-6E8A-4147-A177-3AD203B41FA5}">
                      <a16:colId xmlns:a16="http://schemas.microsoft.com/office/drawing/2014/main" val="2371496817"/>
                    </a:ext>
                  </a:extLst>
                </a:gridCol>
                <a:gridCol w="1122459">
                  <a:extLst>
                    <a:ext uri="{9D8B030D-6E8A-4147-A177-3AD203B41FA5}">
                      <a16:colId xmlns:a16="http://schemas.microsoft.com/office/drawing/2014/main" val="244020903"/>
                    </a:ext>
                  </a:extLst>
                </a:gridCol>
                <a:gridCol w="1122459">
                  <a:extLst>
                    <a:ext uri="{9D8B030D-6E8A-4147-A177-3AD203B41FA5}">
                      <a16:colId xmlns:a16="http://schemas.microsoft.com/office/drawing/2014/main" val="2222698494"/>
                    </a:ext>
                  </a:extLst>
                </a:gridCol>
              </a:tblGrid>
              <a:tr h="1436751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400" dirty="0">
                          <a:effectLst/>
                          <a:cs typeface="B Nazanin" panose="00000400000000000000" pitchFamily="2" charset="-78"/>
                        </a:rPr>
                        <a:t>ردیف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400" dirty="0">
                          <a:effectLst/>
                          <a:cs typeface="B Nazanin" panose="00000400000000000000" pitchFamily="2" charset="-78"/>
                        </a:rPr>
                        <a:t>توان اصلی بال‌میل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400" dirty="0">
                          <a:effectLst/>
                          <a:cs typeface="B Nazanin" panose="00000400000000000000" pitchFamily="2" charset="-78"/>
                        </a:rPr>
                        <a:t>حجم هوادهی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(Blower)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400" dirty="0">
                          <a:effectLst/>
                          <a:cs typeface="B Nazanin" panose="00000400000000000000" pitchFamily="2" charset="-78"/>
                        </a:rPr>
                        <a:t>دمای </a:t>
                      </a:r>
                      <a:r>
                        <a:rPr lang="fa-IR" sz="2400" dirty="0">
                          <a:effectLst/>
                          <a:cs typeface="B Nazanin" panose="00000400000000000000" pitchFamily="2" charset="-78"/>
                        </a:rPr>
                        <a:t>۱ </a:t>
                      </a:r>
                      <a:r>
                        <a:rPr lang="ar-SA" sz="2400" dirty="0">
                          <a:effectLst/>
                          <a:cs typeface="B Nazanin" panose="00000400000000000000" pitchFamily="2" charset="-78"/>
                        </a:rPr>
                        <a:t>بال‌میل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400" dirty="0">
                          <a:effectLst/>
                          <a:cs typeface="B Nazanin" panose="00000400000000000000" pitchFamily="2" charset="-78"/>
                        </a:rPr>
                        <a:t>فرکانس فن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 house (Hz)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400" dirty="0">
                          <a:effectLst/>
                          <a:cs typeface="B Nazanin" panose="00000400000000000000" pitchFamily="2" charset="-78"/>
                        </a:rPr>
                        <a:t>درصد سرب آزاد واقعی </a:t>
                      </a:r>
                      <a:r>
                        <a:rPr lang="en-US" sz="2000" dirty="0">
                          <a:effectLst/>
                          <a:cs typeface="B Nazanin" panose="00000400000000000000" pitchFamily="2" charset="-78"/>
                        </a:rPr>
                        <a:t>(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  <a:r>
                        <a:rPr lang="en-US" sz="2000" dirty="0">
                          <a:effectLst/>
                          <a:cs typeface="B Nazanin" panose="00000400000000000000" pitchFamily="2" charset="-78"/>
                        </a:rPr>
                        <a:t>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ar-SA" sz="2400" dirty="0">
                          <a:effectLst/>
                          <a:cs typeface="B Nazanin" panose="00000400000000000000" pitchFamily="2" charset="-78"/>
                        </a:rPr>
                        <a:t>مقدار پیش‌بینی‌شده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(prediction)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1627928"/>
                  </a:ext>
                </a:extLst>
              </a:tr>
              <a:tr h="425704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68.6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22.80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25.35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8753801"/>
                  </a:ext>
                </a:extLst>
              </a:tr>
              <a:tr h="425704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23.40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25.17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3299603"/>
                  </a:ext>
                </a:extLst>
              </a:tr>
              <a:tr h="425704"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24.80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spcBef>
                          <a:spcPts val="1000"/>
                        </a:spcBef>
                        <a:buNone/>
                      </a:pPr>
                      <a:r>
                        <a:rPr lang="fa-I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25.02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3442132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068D53-30EB-8BF3-4307-64D32877C15F}"/>
              </a:ext>
            </a:extLst>
          </p:cNvPr>
          <p:cNvSpPr/>
          <p:nvPr/>
        </p:nvSpPr>
        <p:spPr>
          <a:xfrm rot="19530338">
            <a:off x="11107448" y="5346805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402D7F-B104-4DF4-27F9-4B64B644E351}"/>
              </a:ext>
            </a:extLst>
          </p:cNvPr>
          <p:cNvSpPr txBox="1"/>
          <p:nvPr/>
        </p:nvSpPr>
        <p:spPr>
          <a:xfrm>
            <a:off x="11878993" y="8789186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جمع‌بندی</a:t>
            </a:r>
          </a:p>
        </p:txBody>
      </p:sp>
    </p:spTree>
    <p:extLst>
      <p:ext uri="{BB962C8B-B14F-4D97-AF65-F5344CB8AC3E}">
        <p14:creationId xmlns:p14="http://schemas.microsoft.com/office/powerpoint/2010/main" val="2176487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1C4FA-9C1C-C856-43B2-44337EE5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45</a:t>
            </a:fld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1E3B81-1881-EA2B-935A-01229C5ECBD8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488B49-1325-A7A9-AFAB-9530AECBF1B9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جمع‌بندی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2B5DB1-66C9-4EB3-7CDF-177AA2EC3264}"/>
              </a:ext>
            </a:extLst>
          </p:cNvPr>
          <p:cNvSpPr/>
          <p:nvPr/>
        </p:nvSpPr>
        <p:spPr>
          <a:xfrm rot="2876015">
            <a:off x="11333082" y="-707953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7AD685-269E-28A2-98B4-7767386B400E}"/>
              </a:ext>
            </a:extLst>
          </p:cNvPr>
          <p:cNvSpPr txBox="1"/>
          <p:nvPr/>
        </p:nvSpPr>
        <p:spPr>
          <a:xfrm>
            <a:off x="12511864" y="-2201306"/>
            <a:ext cx="21691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یافته‌ها و تفسیر آنها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510661-9025-F056-A38C-B4C10D2EB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7545"/>
            <a:ext cx="2174339" cy="21743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875387-9FF7-F1BF-6E9F-7FFF18CDC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389" y="1048082"/>
            <a:ext cx="1471212" cy="14712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058B52-FADD-A6AF-27F0-ED580BC3FF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992" y="3273488"/>
            <a:ext cx="902826" cy="9028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A5F3CA-9705-884F-5082-6299F56BEC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2" t="12164" r="13567" b="15413"/>
          <a:stretch>
            <a:fillRect/>
          </a:stretch>
        </p:blipFill>
        <p:spPr>
          <a:xfrm>
            <a:off x="4586423" y="4240128"/>
            <a:ext cx="1113817" cy="10595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17255B-DE77-0954-CB14-5A1F2D808A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570" y="5490265"/>
            <a:ext cx="966994" cy="966994"/>
          </a:xfrm>
          <a:prstGeom prst="rect">
            <a:avLst/>
          </a:prstGeom>
        </p:spPr>
      </p:pic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295748C-9767-79D1-C6BB-7A6AD8CF3685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2454288" y="1782965"/>
            <a:ext cx="1413017" cy="2470853"/>
          </a:xfrm>
          <a:prstGeom prst="bentConnector2">
            <a:avLst/>
          </a:prstGeom>
          <a:ln w="444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E03C174-3BEB-7AB8-8516-6E69052815C1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1867322" y="2369931"/>
            <a:ext cx="2578082" cy="2461987"/>
          </a:xfrm>
          <a:prstGeom prst="bentConnector3">
            <a:avLst>
              <a:gd name="adj1" fmla="val 99780"/>
            </a:avLst>
          </a:prstGeom>
          <a:ln w="444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C5EA093-B32F-EC48-9CA2-572FA86EE2A9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1291932" y="2945321"/>
            <a:ext cx="3728861" cy="2461985"/>
          </a:xfrm>
          <a:prstGeom prst="bentConnector3">
            <a:avLst>
              <a:gd name="adj1" fmla="val 99905"/>
            </a:avLst>
          </a:prstGeom>
          <a:ln w="444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CA59500-B255-34FE-3C95-40E4E8E86D31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6006561" y="2519294"/>
            <a:ext cx="2187434" cy="1201730"/>
          </a:xfrm>
          <a:prstGeom prst="bentConnector2">
            <a:avLst/>
          </a:prstGeom>
          <a:ln w="44450">
            <a:solidFill>
              <a:schemeClr val="accent6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F816212-02B2-D61E-3311-39508B11A0AD}"/>
              </a:ext>
            </a:extLst>
          </p:cNvPr>
          <p:cNvCxnSpPr>
            <a:cxnSpLocks/>
          </p:cNvCxnSpPr>
          <p:nvPr/>
        </p:nvCxnSpPr>
        <p:spPr>
          <a:xfrm flipV="1">
            <a:off x="6150939" y="3615070"/>
            <a:ext cx="2043056" cy="1274896"/>
          </a:xfrm>
          <a:prstGeom prst="bentConnector3">
            <a:avLst>
              <a:gd name="adj1" fmla="val 99961"/>
            </a:avLst>
          </a:prstGeom>
          <a:ln w="44450">
            <a:solidFill>
              <a:schemeClr val="accent6">
                <a:lumMod val="75000"/>
              </a:schemeClr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50F6344-470C-068B-9948-83DF6A825DAA}"/>
              </a:ext>
            </a:extLst>
          </p:cNvPr>
          <p:cNvCxnSpPr>
            <a:cxnSpLocks/>
          </p:cNvCxnSpPr>
          <p:nvPr/>
        </p:nvCxnSpPr>
        <p:spPr>
          <a:xfrm flipV="1">
            <a:off x="6096000" y="4774019"/>
            <a:ext cx="2097995" cy="1266726"/>
          </a:xfrm>
          <a:prstGeom prst="bentConnector3">
            <a:avLst>
              <a:gd name="adj1" fmla="val 100173"/>
            </a:avLst>
          </a:prstGeom>
          <a:ln w="44450">
            <a:solidFill>
              <a:schemeClr val="accent6">
                <a:lumMod val="75000"/>
              </a:schemeClr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7B408CEE-D97C-EC7B-76C8-3198269D72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66" t="12832" r="29056" b="12388"/>
          <a:stretch>
            <a:fillRect/>
          </a:stretch>
        </p:blipFill>
        <p:spPr>
          <a:xfrm>
            <a:off x="4746858" y="1253905"/>
            <a:ext cx="902826" cy="1059566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D9D5C9A-EED7-DFC7-8CE4-D926AEFEC8DE}"/>
              </a:ext>
            </a:extLst>
          </p:cNvPr>
          <p:cNvCxnSpPr/>
          <p:nvPr/>
        </p:nvCxnSpPr>
        <p:spPr>
          <a:xfrm>
            <a:off x="3311486" y="1783688"/>
            <a:ext cx="1463040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F011E40-A198-AFD5-05B4-C47D08A1E37C}"/>
              </a:ext>
            </a:extLst>
          </p:cNvPr>
          <p:cNvCxnSpPr/>
          <p:nvPr/>
        </p:nvCxnSpPr>
        <p:spPr>
          <a:xfrm>
            <a:off x="5649684" y="1783688"/>
            <a:ext cx="1463040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DB165360-D7B1-AE77-00C8-BA7DE2CD00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908" y="247205"/>
            <a:ext cx="966994" cy="96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7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F5F2B-B93C-2DF3-DCD3-9746A837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46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DF23CA-A2FC-0580-B6D5-A0800B1AF41F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77D50-D296-FE8B-A72A-682F891F6668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جمع‌بندی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DC2C31-28E1-52F5-846B-944441238ECD}"/>
              </a:ext>
            </a:extLst>
          </p:cNvPr>
          <p:cNvSpPr/>
          <p:nvPr/>
        </p:nvSpPr>
        <p:spPr>
          <a:xfrm>
            <a:off x="8181475" y="1405719"/>
            <a:ext cx="2896384" cy="128857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rtl="1"/>
            <a:endParaRPr lang="en-US" sz="2000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8448392-714D-F458-E36F-C697522822E6}"/>
              </a:ext>
            </a:extLst>
          </p:cNvPr>
          <p:cNvSpPr/>
          <p:nvPr/>
        </p:nvSpPr>
        <p:spPr>
          <a:xfrm>
            <a:off x="4001088" y="176227"/>
            <a:ext cx="4039737" cy="14057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مدل‌های رگرسیون چندخروجی </a:t>
            </a:r>
            <a:endParaRPr lang="en-US" sz="24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2F79394-065D-613F-C573-8D88D4292ACB}"/>
              </a:ext>
            </a:extLst>
          </p:cNvPr>
          <p:cNvSpPr/>
          <p:nvPr/>
        </p:nvSpPr>
        <p:spPr>
          <a:xfrm>
            <a:off x="4001087" y="2144609"/>
            <a:ext cx="4039737" cy="14057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وظیفه تفکیک داده</a:t>
            </a:r>
            <a:r>
              <a:rPr lang="fa-IR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 به </a:t>
            </a:r>
            <a:r>
              <a:rPr lang="ar-SA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تابع استاندارد درون اسکریپت پلاگین مدل </a:t>
            </a:r>
            <a:endParaRPr lang="en-US" sz="24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1F5CF1-2555-EB12-9013-E77160F78B4F}"/>
              </a:ext>
            </a:extLst>
          </p:cNvPr>
          <p:cNvSpPr/>
          <p:nvPr/>
        </p:nvSpPr>
        <p:spPr>
          <a:xfrm>
            <a:off x="4001086" y="4112991"/>
            <a:ext cx="4039737" cy="14057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پیش از ارسال داده‌ها به مرحله تفکیک، </a:t>
            </a:r>
            <a:r>
              <a:rPr lang="fa-IR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مرتب شدن </a:t>
            </a:r>
            <a:r>
              <a:rPr lang="ar-SA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سطرها بر اساس یک کلید یکتا (مانند برچسب زمان</a:t>
            </a:r>
            <a:r>
              <a:rPr lang="fa-IR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ی</a:t>
            </a:r>
            <a:r>
              <a:rPr lang="ar-SA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)</a:t>
            </a:r>
            <a:endParaRPr lang="en-US" sz="24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39FD91-8836-1D24-3BF0-920E65B453F7}"/>
              </a:ext>
            </a:extLst>
          </p:cNvPr>
          <p:cNvSpPr txBox="1"/>
          <p:nvPr/>
        </p:nvSpPr>
        <p:spPr>
          <a:xfrm>
            <a:off x="8151886" y="1509724"/>
            <a:ext cx="29259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200" b="1" dirty="0">
                <a:cs typeface="B Nazanin" panose="00000400000000000000" pitchFamily="2" charset="-78"/>
              </a:rPr>
              <a:t>محدودیت‌ها و پیشنهادات</a:t>
            </a:r>
            <a:endParaRPr lang="en-US" sz="2800" b="1" dirty="0">
              <a:cs typeface="B Nazanin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FAFFDB-D6BA-D97B-4F38-E1F196A57776}"/>
              </a:ext>
            </a:extLst>
          </p:cNvPr>
          <p:cNvSpPr/>
          <p:nvPr/>
        </p:nvSpPr>
        <p:spPr>
          <a:xfrm>
            <a:off x="0" y="1237937"/>
            <a:ext cx="4312693" cy="832514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معماری تک‌خروجی در خط لوله یادگیری ماشین</a:t>
            </a:r>
            <a:r>
              <a:rPr lang="en-US" sz="24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5EF17F-4C27-37F4-7176-BADDE159667C}"/>
              </a:ext>
            </a:extLst>
          </p:cNvPr>
          <p:cNvSpPr/>
          <p:nvPr/>
        </p:nvSpPr>
        <p:spPr>
          <a:xfrm>
            <a:off x="0" y="3174009"/>
            <a:ext cx="4312693" cy="832514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عدم پویایی در ترمیم داده‌های گمشده و مقیاس‌بندی</a:t>
            </a: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6FC4AC-7016-3DF2-4940-7C6705459B85}"/>
              </a:ext>
            </a:extLst>
          </p:cNvPr>
          <p:cNvSpPr/>
          <p:nvPr/>
        </p:nvSpPr>
        <p:spPr>
          <a:xfrm>
            <a:off x="0" y="5110081"/>
            <a:ext cx="4312693" cy="832514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400" b="1" dirty="0">
                <a:solidFill>
                  <a:schemeClr val="tx1"/>
                </a:solidFill>
                <a:cs typeface="B Nazanin" panose="00000400000000000000" pitchFamily="2" charset="-78"/>
              </a:rPr>
              <a:t>حساسیت به ترتیب سطرهای داده ورودی</a:t>
            </a: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C982A5-DE43-484B-749D-88DA65247C09}"/>
              </a:ext>
            </a:extLst>
          </p:cNvPr>
          <p:cNvSpPr/>
          <p:nvPr/>
        </p:nvSpPr>
        <p:spPr>
          <a:xfrm rot="18963650">
            <a:off x="11183649" y="551742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92EEAC-4E00-6AA1-1C3A-5E3DAD95351E}"/>
              </a:ext>
            </a:extLst>
          </p:cNvPr>
          <p:cNvSpPr txBox="1"/>
          <p:nvPr/>
        </p:nvSpPr>
        <p:spPr>
          <a:xfrm>
            <a:off x="12192000" y="887647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مراجع</a:t>
            </a:r>
          </a:p>
        </p:txBody>
      </p:sp>
    </p:spTree>
    <p:extLst>
      <p:ext uri="{BB962C8B-B14F-4D97-AF65-F5344CB8AC3E}">
        <p14:creationId xmlns:p14="http://schemas.microsoft.com/office/powerpoint/2010/main" val="40343388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3" grpId="0" animBg="1"/>
      <p:bldP spid="14" grpId="0" animBg="1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7175BF-C5A9-0A11-6912-4363DF8198C8}"/>
              </a:ext>
            </a:extLst>
          </p:cNvPr>
          <p:cNvSpPr/>
          <p:nvPr/>
        </p:nvSpPr>
        <p:spPr>
          <a:xfrm rot="2836832">
            <a:off x="11107449" y="-905845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FB063-ED0C-39A1-F8A4-CD5A199D6C0B}"/>
              </a:ext>
            </a:extLst>
          </p:cNvPr>
          <p:cNvSpPr txBox="1"/>
          <p:nvPr/>
        </p:nvSpPr>
        <p:spPr>
          <a:xfrm>
            <a:off x="12442248" y="-207727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جمع‌بندی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732DF9-D2E6-EEE4-0CCD-F504F76C0193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046CF8-8970-B1DC-DAA5-3A4EABB851BE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مراجع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6F4EFA-C2F7-A7D8-62F4-B6B979B08F32}"/>
              </a:ext>
            </a:extLst>
          </p:cNvPr>
          <p:cNvSpPr txBox="1"/>
          <p:nvPr/>
        </p:nvSpPr>
        <p:spPr>
          <a:xfrm>
            <a:off x="345497" y="798526"/>
            <a:ext cx="9677400" cy="5144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Pressman, R.S. and D. Ince,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Software engineering: a practitioner's approach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Vol. 5. 1997: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McGraw-hill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New York.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Barredo Arrieta, A., et al.,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Explainable Artificial Intelligence (XAI): Concepts, taxonomies, opportunities and challenges toward responsible AI.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Information Fusion, 2020.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p. 82–115.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	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Detchko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Lead-Acid Batteries: Science and Technology.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Handbook, ELSEIVIER, 2004.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	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Breiman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 forests.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Machine learning, 2001.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(1): p. 5–32.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Friedman, J.H.,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Greedy function approximation: a gradient boosting machine.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Annals of statistics, 2001: p. 1189–1232.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Lundberg, S.M., et al.,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local explanations to global understanding with explainable AI for trees.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Nature machine intelligence, 2020.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(1): p. 56–67.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	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Bakhtom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A., et al.</a:t>
            </a: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learning-guided prediction and optimization of precipitation efficiency in the Bayer process.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Chem. Pap., 2023.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77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(5): p. 2509–2524.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Saghir, H., et al.,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 and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gasoline quality in petroleum refining: The use of machine learning model as a surrogate in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framework.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CAAI Trans. Intell. Technol., 2024.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(5): p. 1185–1198.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70CA63F-2EE5-FBDB-A9D6-122F6164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090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3A2BB-C7A6-FC8E-7074-05D54BC4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48</a:t>
            </a:fld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268A7E-8E76-E02B-D451-4C85608C0B97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30B77-219C-5329-3950-E855BC6A863B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مراجع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15398B-2AB2-A2DF-3642-75CD87F1D505}"/>
              </a:ext>
            </a:extLst>
          </p:cNvPr>
          <p:cNvSpPr txBox="1"/>
          <p:nvPr/>
        </p:nvSpPr>
        <p:spPr>
          <a:xfrm>
            <a:off x="602673" y="231596"/>
            <a:ext cx="9420224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Echeverria-Rios, D. and P.L. Green,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Predicting product quality in continuous manufacturing processes using a scalable robust Gaussian Process approach.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Eng. Appl.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Intell., 2024.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127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(107233): p. 107233.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Lopes da Silva, D.S. and A.C. Brandão de Araújo,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reactor metamodel: Optimization of biodiesel reaction systems using machine learning techniques.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Renew. Energy, 2025.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53(123569)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p. Not Available.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Colling, E., M.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Farenzena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J.O. Trierweiler,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Data-driven prediction of intermediate product properties in petroleum refining.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Ind. Eng. Chem. Res., 2025.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(49): p. 23510–23521.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Lai, S., Z. Li, and J. Wang,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 and explainable analysis of molecular weight distribution of polystyrene based on machine learning and SHAP.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Macromol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React. Eng., 2025.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Xu, F., et al.,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statistical and machine learning optimization of continuous pyrolysis to maximize bio</a:t>
            </a: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oil production.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Energy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.), 2026.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360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(141855): p. 141855.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	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Baumer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C., et al.,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learning‐supported analysis for predicting and visualizing nonlinear relationships between material properties in electroplated chromium layers.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Adv. Eng. Mater.</a:t>
            </a: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2026(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e70988</a:t>
            </a: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Yuan, Y., et al.,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Transparency: The missing link to boosting AI transformations in chemical engineering.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Engineering (Beijing), 2024.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p. 45–60.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706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B7368-B464-EB9B-96EF-0423B32C4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49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31DA7D-AC7B-47AF-5BC1-03CF6837338B}"/>
              </a:ext>
            </a:extLst>
          </p:cNvPr>
          <p:cNvSpPr/>
          <p:nvPr/>
        </p:nvSpPr>
        <p:spPr>
          <a:xfrm>
            <a:off x="10022897" y="2294555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8B505-906F-7BB0-3F15-3348E3BB8ED6}"/>
              </a:ext>
            </a:extLst>
          </p:cNvPr>
          <p:cNvSpPr txBox="1"/>
          <p:nvPr/>
        </p:nvSpPr>
        <p:spPr>
          <a:xfrm>
            <a:off x="10022897" y="3371025"/>
            <a:ext cx="216910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3600" b="1" dirty="0">
                <a:cs typeface="B Nazanin" panose="00000400000000000000" pitchFamily="2" charset="-78"/>
              </a:rPr>
              <a:t>مراجع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85B510-BC38-DD7E-0A06-CDDF32855B39}"/>
              </a:ext>
            </a:extLst>
          </p:cNvPr>
          <p:cNvSpPr txBox="1"/>
          <p:nvPr/>
        </p:nvSpPr>
        <p:spPr>
          <a:xfrm>
            <a:off x="535997" y="862646"/>
            <a:ext cx="94869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	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Cação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J., J. Santos, and M. Antunes,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Explainable AI for industrial fault diagnosis: A systematic review.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J. Ind. Inf.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., 2025.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47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(100905): p. 100905.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Mimura, S., et al.,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Explainable artificial intelligence for chemical process informatics: Energy-efficient design of styrene monomer production.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Chem. Eng. J. Adv., 2025.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(100</a:t>
            </a: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929)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p. 100929.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Chew, J.W., et al.,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in chemical engineering: From promise to practice.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AIChE J., 2026.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	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Mokari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M., M. Rahmani, and S.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Atashrouz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Interpretable machine learning for optimized dimethyl ether production from bio-methanol.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Sci. Rep., 2026.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Hinojosa-Palafox, E.A., et al.,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analytics environment architecture for industrial cyber-physical systems Big Data solutions.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Sensors (Basel), 2021.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(13): p. 4282.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21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Cao, L., et al.,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novel automated soft sensor design tool for industrial applications based on machine learning.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Control Eng.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., 2025.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(106322): p. 106322.</a:t>
            </a:r>
          </a:p>
          <a:p>
            <a:pPr marL="457200" marR="0" indent="-457200">
              <a:spcBef>
                <a:spcPts val="1000"/>
              </a:spcBef>
              <a:buNone/>
            </a:pPr>
            <a:r>
              <a:rPr lang="ar-S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	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Radlbauer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E., T. Moser, and M. Wagner,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Designing a system architecture for dynamic data collection as a foundation for knowledge modeling in industry.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Appl. Sci. (Basel), 2025.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(9): p. 5081.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BBACB7-FD73-69BB-3DE9-B71FFB9901D0}"/>
              </a:ext>
            </a:extLst>
          </p:cNvPr>
          <p:cNvSpPr/>
          <p:nvPr/>
        </p:nvSpPr>
        <p:spPr>
          <a:xfrm rot="528828">
            <a:off x="5027631" y="8102469"/>
            <a:ext cx="8824823" cy="27992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E28F38-CF4B-316C-E218-626267FCB322}"/>
              </a:ext>
            </a:extLst>
          </p:cNvPr>
          <p:cNvSpPr/>
          <p:nvPr/>
        </p:nvSpPr>
        <p:spPr>
          <a:xfrm rot="21376901">
            <a:off x="7697650" y="7494220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042E57D-985B-A396-6D32-F2665DC7FB7B}"/>
              </a:ext>
            </a:extLst>
          </p:cNvPr>
          <p:cNvSpPr/>
          <p:nvPr/>
        </p:nvSpPr>
        <p:spPr>
          <a:xfrm rot="20691324">
            <a:off x="9960211" y="6506114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50F6CAC-23F1-BC7B-4062-77BBB3C41D8F}"/>
              </a:ext>
            </a:extLst>
          </p:cNvPr>
          <p:cNvSpPr/>
          <p:nvPr/>
        </p:nvSpPr>
        <p:spPr>
          <a:xfrm rot="515455" flipH="1" flipV="1">
            <a:off x="-2074608" y="-3702589"/>
            <a:ext cx="9535195" cy="27992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B61A329-2FB3-A9D1-B4E6-FCB9B88FD78B}"/>
              </a:ext>
            </a:extLst>
          </p:cNvPr>
          <p:cNvSpPr/>
          <p:nvPr/>
        </p:nvSpPr>
        <p:spPr>
          <a:xfrm rot="21488057" flipH="1" flipV="1">
            <a:off x="-4715272" y="-3557512"/>
            <a:ext cx="9535195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B519573-5C8F-3410-B11B-0B1D099EFEA8}"/>
              </a:ext>
            </a:extLst>
          </p:cNvPr>
          <p:cNvSpPr/>
          <p:nvPr/>
        </p:nvSpPr>
        <p:spPr>
          <a:xfrm rot="20818951" flipH="1" flipV="1">
            <a:off x="-7230167" y="-2858601"/>
            <a:ext cx="9535195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90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A86E6-180B-0E8A-41C5-A2699A5B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5276947-FFA0-44F6-8F12-C0D461897C70}" type="slidenum">
              <a:rPr lang="en-US" smtClean="0"/>
              <a:pPr algn="l"/>
              <a:t>50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781B2B-7F61-03F3-6278-21FDE84B99BE}"/>
              </a:ext>
            </a:extLst>
          </p:cNvPr>
          <p:cNvSpPr txBox="1"/>
          <p:nvPr/>
        </p:nvSpPr>
        <p:spPr>
          <a:xfrm>
            <a:off x="0" y="3133993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5400" b="1" dirty="0">
                <a:solidFill>
                  <a:schemeClr val="tx1"/>
                </a:solidFill>
                <a:cs typeface="B Nazanin" panose="00000400000000000000" pitchFamily="2" charset="-78"/>
              </a:rPr>
              <a:t>سپاس از توجه شما</a:t>
            </a:r>
            <a:endParaRPr lang="en-US" sz="54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07E99C-E23E-A243-BC2D-6570E7DB7C5E}"/>
              </a:ext>
            </a:extLst>
          </p:cNvPr>
          <p:cNvSpPr/>
          <p:nvPr/>
        </p:nvSpPr>
        <p:spPr>
          <a:xfrm rot="2107489" flipH="1" flipV="1">
            <a:off x="-1536384" y="-2975235"/>
            <a:ext cx="9535195" cy="27992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782FE9-1481-651A-46DD-51A9FE6FD579}"/>
              </a:ext>
            </a:extLst>
          </p:cNvPr>
          <p:cNvSpPr/>
          <p:nvPr/>
        </p:nvSpPr>
        <p:spPr>
          <a:xfrm rot="1480091" flipH="1" flipV="1">
            <a:off x="-4177048" y="-2830158"/>
            <a:ext cx="9535195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9EFCF5-996B-D01E-E78A-18EB4D0A7977}"/>
              </a:ext>
            </a:extLst>
          </p:cNvPr>
          <p:cNvSpPr/>
          <p:nvPr/>
        </p:nvSpPr>
        <p:spPr>
          <a:xfrm rot="810985" flipH="1" flipV="1">
            <a:off x="-6691943" y="-2131247"/>
            <a:ext cx="9535195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C9F71D7-1D67-93AB-C2BF-D00945D83E47}"/>
              </a:ext>
            </a:extLst>
          </p:cNvPr>
          <p:cNvSpPr/>
          <p:nvPr/>
        </p:nvSpPr>
        <p:spPr>
          <a:xfrm rot="1977989">
            <a:off x="4875231" y="7054719"/>
            <a:ext cx="8824823" cy="27992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E3B618-F03A-FB5F-E037-A7AE874A5201}"/>
              </a:ext>
            </a:extLst>
          </p:cNvPr>
          <p:cNvSpPr/>
          <p:nvPr/>
        </p:nvSpPr>
        <p:spPr>
          <a:xfrm rot="1226062">
            <a:off x="7545250" y="6446470"/>
            <a:ext cx="8824823" cy="279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0306FA1-D030-7A3F-B8CF-E2F60A5CC8B9}"/>
              </a:ext>
            </a:extLst>
          </p:cNvPr>
          <p:cNvSpPr/>
          <p:nvPr/>
        </p:nvSpPr>
        <p:spPr>
          <a:xfrm rot="540485">
            <a:off x="9807811" y="5458364"/>
            <a:ext cx="8824823" cy="2799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45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1942</Words>
  <Application>Microsoft Office PowerPoint</Application>
  <PresentationFormat>Widescreen</PresentationFormat>
  <Paragraphs>383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Aptos</vt:lpstr>
      <vt:lpstr>Aptos Display</vt:lpstr>
      <vt:lpstr>Arial</vt:lpstr>
      <vt:lpstr>B Nazanin</vt:lpstr>
      <vt:lpstr>Times New Roman</vt:lpstr>
      <vt:lpstr>Vazirmatn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Hossein Fatemi</dc:creator>
  <cp:lastModifiedBy>Hossein Fatemi</cp:lastModifiedBy>
  <cp:revision>16</cp:revision>
  <dcterms:created xsi:type="dcterms:W3CDTF">2026-10-20T09:07:28Z</dcterms:created>
  <dcterms:modified xsi:type="dcterms:W3CDTF">2026-10-20T22:04:47Z</dcterms:modified>
</cp:coreProperties>
</file>